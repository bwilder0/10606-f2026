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36"/>
  </p:notesMasterIdLst>
  <p:sldIdLst>
    <p:sldId id="263" r:id="rId2"/>
    <p:sldId id="277" r:id="rId3"/>
    <p:sldId id="304" r:id="rId4"/>
    <p:sldId id="257" r:id="rId5"/>
    <p:sldId id="278" r:id="rId6"/>
    <p:sldId id="293" r:id="rId7"/>
    <p:sldId id="264" r:id="rId8"/>
    <p:sldId id="303" r:id="rId9"/>
    <p:sldId id="302" r:id="rId10"/>
    <p:sldId id="261" r:id="rId11"/>
    <p:sldId id="295" r:id="rId12"/>
    <p:sldId id="294" r:id="rId13"/>
    <p:sldId id="280" r:id="rId14"/>
    <p:sldId id="296" r:id="rId15"/>
    <p:sldId id="299" r:id="rId16"/>
    <p:sldId id="275" r:id="rId17"/>
    <p:sldId id="281" r:id="rId18"/>
    <p:sldId id="298" r:id="rId19"/>
    <p:sldId id="291" r:id="rId20"/>
    <p:sldId id="282" r:id="rId21"/>
    <p:sldId id="301" r:id="rId22"/>
    <p:sldId id="300" r:id="rId23"/>
    <p:sldId id="270" r:id="rId24"/>
    <p:sldId id="271" r:id="rId25"/>
    <p:sldId id="272" r:id="rId26"/>
    <p:sldId id="273" r:id="rId27"/>
    <p:sldId id="279" r:id="rId28"/>
    <p:sldId id="284" r:id="rId29"/>
    <p:sldId id="286" r:id="rId30"/>
    <p:sldId id="285" r:id="rId31"/>
    <p:sldId id="287" r:id="rId32"/>
    <p:sldId id="288" r:id="rId33"/>
    <p:sldId id="290" r:id="rId34"/>
    <p:sldId id="289" r:id="rId35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7"/>
    </p:embeddedFont>
    <p:embeddedFont>
      <p:font typeface="Helvetica Neue Light" panose="02000403000000020004" pitchFamily="2" charset="0"/>
      <p:regular r:id="rId38"/>
      <p:bold r:id="rId39"/>
      <p:italic r:id="rId40"/>
      <p:boldItalic r:id="rId41"/>
    </p:embeddedFont>
    <p:embeddedFont>
      <p:font typeface="Open Sans" panose="020B0606030504020204" pitchFamily="34" charset="0"/>
      <p:regular r:id="rId42"/>
      <p:bold r:id="rId43"/>
      <p:italic r:id="rId44"/>
      <p:boldItalic r:id="rId45"/>
    </p:embeddedFont>
    <p:embeddedFont>
      <p:font typeface="Open Sans Light" panose="020B0306030504020204" pitchFamily="34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/>
    <p:restoredTop sz="94726"/>
  </p:normalViewPr>
  <p:slideViewPr>
    <p:cSldViewPr snapToGrid="0">
      <p:cViewPr varScale="1">
        <p:scale>
          <a:sx n="154" d="100"/>
          <a:sy n="154" d="100"/>
        </p:scale>
        <p:origin x="528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59849b8f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59849b8f0c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g159849b8f0c_0_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59849b8f0c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59849b8f0c_0_4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159849b8f0c_0_4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59849b8f0c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59849b8f0c_0_4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159849b8f0c_0_4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991883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www.cs.cmu.edu</a:t>
            </a:r>
            <a:r>
              <a:rPr lang="en-US" dirty="0"/>
              <a:t>/~10606-f21/assignments/written/hw2_blank.pdf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19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2108958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78444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1711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68552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0729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" name="Google Shape;2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09800" y="895350"/>
            <a:ext cx="3429000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7" t="23988" r="4770" b="1989"/>
          <a:stretch/>
        </p:blipFill>
        <p:spPr>
          <a:xfrm>
            <a:off x="457200" y="0"/>
            <a:ext cx="7905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" name="Google Shape;25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09800" y="895350"/>
            <a:ext cx="3429000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2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7" t="23988" r="4770" b="1989"/>
          <a:stretch/>
        </p:blipFill>
        <p:spPr>
          <a:xfrm>
            <a:off x="457200" y="0"/>
            <a:ext cx="7905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Column">
  <p:cSld name="1 Colum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">
  <p:cSld name="2 Colum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624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727448" y="1212300"/>
            <a:ext cx="39593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32766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3"/>
          </p:nvPr>
        </p:nvSpPr>
        <p:spPr>
          <a:xfrm>
            <a:off x="60960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">
  <p:cSld name="4 Colum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2"/>
          </p:nvPr>
        </p:nvSpPr>
        <p:spPr>
          <a:xfrm>
            <a:off x="25654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3"/>
          </p:nvPr>
        </p:nvSpPr>
        <p:spPr>
          <a:xfrm>
            <a:off x="46736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4"/>
          </p:nvPr>
        </p:nvSpPr>
        <p:spPr>
          <a:xfrm>
            <a:off x="67818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414074" y="275348"/>
            <a:ext cx="78867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1"/>
          </p:nvPr>
        </p:nvSpPr>
        <p:spPr>
          <a:xfrm>
            <a:off x="414074" y="834883"/>
            <a:ext cx="7886700" cy="15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F5496"/>
              </a:buClr>
              <a:buSzPts val="2100"/>
              <a:buFont typeface="Noto Sans Symbols"/>
              <a:buNone/>
              <a:defRPr sz="2100" b="0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6822628" y="4771791"/>
            <a:ext cx="20574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12"/>
          <p:cNvCxnSpPr/>
          <p:nvPr/>
        </p:nvCxnSpPr>
        <p:spPr>
          <a:xfrm>
            <a:off x="934548" y="1165883"/>
            <a:ext cx="6883052" cy="0"/>
          </a:xfrm>
          <a:prstGeom prst="straightConnector1">
            <a:avLst/>
          </a:prstGeom>
          <a:noFill/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" name="Google Shape;27;p12"/>
          <p:cNvSpPr txBox="1">
            <a:spLocks noGrp="1"/>
          </p:cNvSpPr>
          <p:nvPr>
            <p:ph type="body" idx="1"/>
          </p:nvPr>
        </p:nvSpPr>
        <p:spPr>
          <a:xfrm>
            <a:off x="934548" y="532520"/>
            <a:ext cx="4412456" cy="484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2700">
                <a:solidFill>
                  <a:srgbClr val="5D5D5D"/>
                </a:solidFill>
              </a:defRPr>
            </a:lvl1pPr>
            <a:lvl2pPr marL="685800" lvl="1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body" idx="2"/>
          </p:nvPr>
        </p:nvSpPr>
        <p:spPr>
          <a:xfrm>
            <a:off x="934548" y="1724239"/>
            <a:ext cx="6883052" cy="225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342900" lvl="0" indent="-171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>
                <a:solidFill>
                  <a:srgbClr val="5D5D5D"/>
                </a:solidFill>
              </a:defRPr>
            </a:lvl1pPr>
            <a:lvl2pPr marL="685800" lvl="1" indent="-257175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3"/>
          </p:nvPr>
        </p:nvSpPr>
        <p:spPr>
          <a:xfrm>
            <a:off x="934548" y="1314664"/>
            <a:ext cx="6883052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342900" lvl="0" indent="-171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 b="1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685800" lvl="1" indent="-257175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0" name="Google Shape;30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381500"/>
            <a:ext cx="9144000" cy="76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0931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 descr="_Plaid-Digital_FINAL-NEW.png"/>
          <p:cNvPicPr preferRelativeResize="0"/>
          <p:nvPr/>
        </p:nvPicPr>
        <p:blipFill rotWithShape="1">
          <a:blip r:embed="rId11">
            <a:alphaModFix/>
          </a:blip>
          <a:srcRect l="59550" t="20875" r="39888" b="2893"/>
          <a:stretch/>
        </p:blipFill>
        <p:spPr>
          <a:xfrm rot="5400000">
            <a:off x="3798887" y="1046163"/>
            <a:ext cx="60325" cy="76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 descr="_Plaid-Digital_FINAL-NEW.png"/>
          <p:cNvPicPr preferRelativeResize="0"/>
          <p:nvPr/>
        </p:nvPicPr>
        <p:blipFill rotWithShape="1">
          <a:blip r:embed="rId11">
            <a:alphaModFix/>
          </a:blip>
          <a:srcRect l="59550" t="20875" r="39888" b="2893"/>
          <a:stretch/>
        </p:blipFill>
        <p:spPr>
          <a:xfrm rot="5400000">
            <a:off x="3798887" y="1046163"/>
            <a:ext cx="60325" cy="76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2639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2638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–"/>
              <a:defRPr sz="1400" b="0" i="1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2638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2638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–"/>
              <a:defRPr sz="1400" b="0" i="1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772400" y="4248150"/>
            <a:ext cx="1154590" cy="73639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11073918" y="64004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1"/>
          <p:cNvSpPr txBox="1"/>
          <p:nvPr/>
        </p:nvSpPr>
        <p:spPr>
          <a:xfrm>
            <a:off x="11226318" y="65528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11378718" y="67052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11531118" y="68576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8534400" y="100340"/>
            <a:ext cx="50689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 sz="1100" b="0" i="0" u="none" strike="noStrike" cap="none">
              <a:solidFill>
                <a:srgbClr val="7F7F7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10"/>
          <p:cNvCxnSpPr/>
          <p:nvPr/>
        </p:nvCxnSpPr>
        <p:spPr>
          <a:xfrm>
            <a:off x="2209800" y="3486150"/>
            <a:ext cx="54864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Google Shape;58;p10"/>
          <p:cNvSpPr txBox="1"/>
          <p:nvPr/>
        </p:nvSpPr>
        <p:spPr>
          <a:xfrm>
            <a:off x="2133600" y="2038350"/>
            <a:ext cx="6798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175" lvl="0" indent="-31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Mathematical Foundations for ML (10-606):</a:t>
            </a:r>
            <a:endParaRPr sz="24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175" marR="0" lvl="0" indent="-3175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39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Matrix calculus</a:t>
            </a:r>
            <a:endParaRPr sz="39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175" marR="0" lvl="0" indent="-3175" algn="l" rtl="0">
              <a:spcBef>
                <a:spcPts val="0"/>
              </a:spcBef>
              <a:spcAft>
                <a:spcPts val="0"/>
              </a:spcAft>
              <a:buNone/>
            </a:pPr>
            <a:endParaRPr sz="40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" name="Google Shape;59;p10"/>
          <p:cNvSpPr txBox="1"/>
          <p:nvPr/>
        </p:nvSpPr>
        <p:spPr>
          <a:xfrm>
            <a:off x="2133600" y="3638550"/>
            <a:ext cx="5257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175" marR="0" lvl="0" indent="-3175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Bryan Wilder</a:t>
            </a:r>
            <a:endParaRPr dirty="0"/>
          </a:p>
        </p:txBody>
      </p:sp>
      <p:sp>
        <p:nvSpPr>
          <p:cNvPr id="60" name="Google Shape;60;p10"/>
          <p:cNvSpPr txBox="1"/>
          <p:nvPr/>
        </p:nvSpPr>
        <p:spPr>
          <a:xfrm>
            <a:off x="2133600" y="4695325"/>
            <a:ext cx="6903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* Slides borrowed from prior offerings by Professors M. Gormley, P. Virtue, &amp; G. Gordon, &amp; H. </a:t>
            </a:r>
            <a:r>
              <a:rPr lang="en-US" sz="11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Heidari</a:t>
            </a:r>
            <a:r>
              <a:rPr lang="en-US" sz="11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1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075B-49FB-099E-1079-2E420C54B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076D6B-6CC0-FFD5-41F0-67A151540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on Wed: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Same format (first 40 min of class)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Covers material from after Quiz 1 to last Wed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/>
              <a:t>Matrix rank, inverses, eigenvectors/eigenvalues, linear systems, SVD,…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/>
              <a:t>See </a:t>
            </a:r>
            <a:r>
              <a:rPr lang="en-US" dirty="0" err="1"/>
              <a:t>homeworks</a:t>
            </a:r>
            <a:r>
              <a:rPr lang="en-US" dirty="0"/>
              <a:t> 3, 4, and extra practice problems on </a:t>
            </a:r>
            <a:r>
              <a:rPr lang="en-US"/>
              <a:t>course website</a:t>
            </a:r>
          </a:p>
          <a:p>
            <a:pPr marL="228600" inden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023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152C9-A3B6-D057-A80D-06A162E32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33329-7FB0-E385-6613-DF9AEDF74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ABC60-5A01-5824-A66C-EA9E1A2ABA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far: introduced matrices, the linear regression problem, and its solution</a:t>
            </a:r>
          </a:p>
          <a:p>
            <a:endParaRPr lang="en-US" dirty="0"/>
          </a:p>
          <a:p>
            <a:r>
              <a:rPr lang="en-US" dirty="0"/>
              <a:t>Deriving the solution requires optimization, which in turn requires calculus</a:t>
            </a:r>
          </a:p>
          <a:p>
            <a:endParaRPr lang="en-US" dirty="0"/>
          </a:p>
          <a:p>
            <a:r>
              <a:rPr lang="en-US" dirty="0"/>
              <a:t>Today: introduction to matrix derivatives and related concepts</a:t>
            </a:r>
          </a:p>
        </p:txBody>
      </p:sp>
    </p:spTree>
    <p:extLst>
      <p:ext uri="{BB962C8B-B14F-4D97-AF65-F5344CB8AC3E}">
        <p14:creationId xmlns:p14="http://schemas.microsoft.com/office/powerpoint/2010/main" val="1140192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Calculus warmup</a:t>
            </a:r>
            <a:endParaRPr dirty="0"/>
          </a:p>
        </p:txBody>
      </p:sp>
      <p:sp>
        <p:nvSpPr>
          <p:cNvPr id="67" name="Google Shape;67;p1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9700" lvl="0" indent="0" algn="l" rtl="0">
              <a:spcBef>
                <a:spcPts val="600"/>
              </a:spcBef>
              <a:spcAft>
                <a:spcPts val="0"/>
              </a:spcAft>
              <a:buSzPts val="1400"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CEDEBF-85C0-EFC6-49A8-2EF5E7864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00150"/>
            <a:ext cx="3792855" cy="24639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C7DDB-1792-CFF0-EC78-CB15F24EB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Calculus warmup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69B1AE6-C7AD-34DD-0D6A-EFB16C744D5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The derivative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+3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is</a:t>
                </a:r>
              </a:p>
              <a:p>
                <a:endParaRPr lang="en-US" dirty="0"/>
              </a:p>
              <a:p>
                <a:r>
                  <a:rPr lang="en-US" dirty="0"/>
                  <a:t>a.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+3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b.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+3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+6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c.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+3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(6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69B1AE6-C7AD-34DD-0D6A-EFB16C744D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5810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C7DDB-1792-CFF0-EC78-CB15F24EB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Partial derivatives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69B1AE6-C7AD-34DD-0D6A-EFB16C744D5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The partial derivative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</a:t>
                </a:r>
              </a:p>
              <a:p>
                <a:endParaRPr lang="en-US" dirty="0"/>
              </a:p>
              <a:p>
                <a:r>
                  <a:rPr lang="en-US" dirty="0"/>
                  <a:t>a.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b.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c.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𝑦𝑧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d.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69B1AE6-C7AD-34DD-0D6A-EFB16C744D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8906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>
            <a:spLocks noGrp="1"/>
          </p:cNvSpPr>
          <p:nvPr>
            <p:ph type="body" idx="1"/>
          </p:nvPr>
        </p:nvSpPr>
        <p:spPr>
          <a:xfrm>
            <a:off x="934548" y="532520"/>
            <a:ext cx="6856903" cy="484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/>
          <a:p>
            <a:pPr marL="0" indent="0">
              <a:spcBef>
                <a:spcPts val="0"/>
              </a:spcBef>
              <a:buClr>
                <a:schemeClr val="lt1"/>
              </a:buClr>
              <a:buSzPct val="100000"/>
            </a:pPr>
            <a:r>
              <a:rPr lang="en-US" dirty="0"/>
              <a:t>Gradients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2C2CEAAF-2DAF-0AFE-6E28-303D0127107E}"/>
                  </a:ext>
                </a:extLst>
              </p:cNvPr>
              <p:cNvSpPr txBox="1">
                <a:spLocks noGrp="1"/>
              </p:cNvSpPr>
              <p:nvPr>
                <p:ph type="body" idx="2"/>
              </p:nvPr>
            </p:nvSpPr>
            <p:spPr>
              <a:xfrm>
                <a:off x="934548" y="1227582"/>
                <a:ext cx="6856903" cy="3573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4275" tIns="34275" rIns="34275" bIns="34275" anchor="t" anchorCtr="0">
                <a:noAutofit/>
              </a:bodyPr>
              <a:lstStyle/>
              <a:p>
                <a:pPr marL="428625" indent="-25717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Given 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that takes a vector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as input and returns a scalar (so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), recall that the gradient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a vector the same size as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171450" indent="0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1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f>
                                      <m:f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  <m:d>
                                          <m:dPr>
                                            <m:ctrlPr>
                                              <a:rPr lang="en-US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1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</m:d>
                                      </m:num>
                                      <m:den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  <m:e>
                                    <m:r>
                                      <a:rPr lang="en-US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  <m:d>
                                          <m:dPr>
                                            <m:ctrlPr>
                                              <a:rPr lang="en-US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1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</m:d>
                                      </m:num>
                                      <m:den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2C2CEAAF-2DAF-0AFE-6E28-303D0127107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934548" y="1227582"/>
                <a:ext cx="6856903" cy="3573018"/>
              </a:xfrm>
              <a:prstGeom prst="rect">
                <a:avLst/>
              </a:prstGeom>
              <a:blipFill>
                <a:blip r:embed="rId3"/>
                <a:stretch>
                  <a:fillRect t="-1704" r="-16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A0DADA-2F93-B816-40CB-3932CB03B0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Derivative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48260E-90F5-8B0B-5524-16B26B4E410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“slope of the tangent line”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F81C54-0ACB-5991-8059-6C0003AA0F9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E05FB8D7-F108-F21B-59F0-25242F9D8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800" y="2143568"/>
            <a:ext cx="3525200" cy="2467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9243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D9C49A-1183-363B-9ADB-DA46BF12B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Gradients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396DDD0-C3E0-E28D-11D0-9FCC33AD8148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4572000" y="1724239"/>
                <a:ext cx="3245600" cy="225336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gives the change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as you move in direction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plane shown is the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396DDD0-C3E0-E28D-11D0-9FCC33AD81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4572000" y="1724239"/>
                <a:ext cx="3245600" cy="2253365"/>
              </a:xfrm>
              <a:blipFill>
                <a:blip r:embed="rId2"/>
                <a:stretch>
                  <a:fillRect t="-5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0B4D7B25-F11C-D82D-3B56-4FE75E117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101" y="1314664"/>
            <a:ext cx="3602671" cy="2734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A51192-F7B0-7922-F467-15BF1379A1B0}"/>
              </a:ext>
            </a:extLst>
          </p:cNvPr>
          <p:cNvSpPr txBox="1"/>
          <p:nvPr/>
        </p:nvSpPr>
        <p:spPr>
          <a:xfrm>
            <a:off x="731058" y="4158371"/>
            <a:ext cx="593101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/>
              <a:t>https://</a:t>
            </a:r>
            <a:r>
              <a:rPr lang="en-US" sz="700" dirty="0" err="1"/>
              <a:t>math.stackexchange.com</a:t>
            </a:r>
            <a:r>
              <a:rPr lang="en-US" sz="700" dirty="0"/>
              <a:t>/questions/2643798/why-is-any-arbitrary-directional-derivative-always-recoverable-from-the-gradient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0E5B2C-9F06-6BB6-274F-1A2A1FAD4CD9}"/>
              </a:ext>
            </a:extLst>
          </p:cNvPr>
          <p:cNvSpPr/>
          <p:nvPr/>
        </p:nvSpPr>
        <p:spPr>
          <a:xfrm>
            <a:off x="1921078" y="2147581"/>
            <a:ext cx="226503" cy="1090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78BED52-1945-EA82-6A61-4CED7CF419C6}"/>
                  </a:ext>
                </a:extLst>
              </p:cNvPr>
              <p:cNvSpPr/>
              <p:nvPr/>
            </p:nvSpPr>
            <p:spPr>
              <a:xfrm>
                <a:off x="1174459" y="1249945"/>
                <a:ext cx="872455" cy="30003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78BED52-1945-EA82-6A61-4CED7CF419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459" y="1249945"/>
                <a:ext cx="872455" cy="300038"/>
              </a:xfrm>
              <a:prstGeom prst="rect">
                <a:avLst/>
              </a:prstGeom>
              <a:blipFill>
                <a:blip r:embed="rId4"/>
                <a:stretch>
                  <a:fillRect b="-11538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6920E63-0E30-E114-4C2E-670E6A57D260}"/>
                  </a:ext>
                </a:extLst>
              </p:cNvPr>
              <p:cNvSpPr/>
              <p:nvPr/>
            </p:nvSpPr>
            <p:spPr>
              <a:xfrm>
                <a:off x="2870435" y="1694314"/>
                <a:ext cx="241882" cy="1177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6920E63-0E30-E114-4C2E-670E6A57D2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0435" y="1694314"/>
                <a:ext cx="241882" cy="117708"/>
              </a:xfrm>
              <a:prstGeom prst="rect">
                <a:avLst/>
              </a:prstGeom>
              <a:blipFill>
                <a:blip r:embed="rId5"/>
                <a:stretch>
                  <a:fillRect b="-3333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8257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Gradient</a:t>
            </a: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/>
              <a:t>f: R</a:t>
            </a:r>
            <a:r>
              <a:rPr lang="en-US" baseline="30000"/>
              <a:t>mxn </a:t>
            </a:r>
            <a:r>
              <a:rPr lang="en-US"/>
              <a:t>→ R</a:t>
            </a:r>
            <a:endParaRPr/>
          </a:p>
        </p:txBody>
      </p:sp>
      <p:pic>
        <p:nvPicPr>
          <p:cNvPr id="98" name="Google Shape;9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5088" y="1863706"/>
            <a:ext cx="4353825" cy="141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37A54-216E-4F77-0504-B9247C90C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AEDC099-4F4E-A141-D96C-2B3FB9C5BE7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Note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i="1" dirty="0"/>
              </a:p>
              <a:p>
                <a:endParaRPr lang="en-US" i="1" dirty="0"/>
              </a:p>
              <a:p>
                <a:endParaRPr lang="en-US" i="1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AEDC099-4F4E-A141-D96C-2B3FB9C5BE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5864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Jacobian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Google Shape;97;p1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200150"/>
                <a:ext cx="8229600" cy="342900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139700" lvl="0" indent="0" algn="l" rtl="0">
                  <a:spcBef>
                    <a:spcPts val="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139700" lvl="0" indent="0" algn="l" rtl="0">
                  <a:spcBef>
                    <a:spcPts val="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..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139700" lvl="0" indent="0" algn="l" rtl="0">
                  <a:spcBef>
                    <a:spcPts val="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</a:pPr>
                <a:endParaRPr lang="en-US" dirty="0"/>
              </a:p>
              <a:p>
                <a:pPr marL="139700" lvl="0" indent="0" algn="ctr" rtl="0">
                  <a:spcBef>
                    <a:spcPts val="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</m:mr>
                          </m: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...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139700" lvl="0" indent="0" algn="l" rtl="0">
                  <a:spcBef>
                    <a:spcPts val="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</a:pPr>
                <a:endParaRPr lang="en-US" dirty="0"/>
              </a:p>
              <a:p>
                <a:pPr marL="139700" lvl="0" indent="0" algn="ctr">
                  <a:buClr>
                    <a:schemeClr val="dk1"/>
                  </a:buClr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mr>
                        </m: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...</m:t>
                        </m:r>
                      </m:e>
                    </m:d>
                  </m:oMath>
                </a14:m>
                <a:r>
                  <a:rPr lang="en-US" dirty="0"/>
                  <a:t> i.e.,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marL="139700" lvl="0" indent="0" algn="l" rtl="0">
                  <a:spcBef>
                    <a:spcPts val="60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</a:pPr>
                <a:endParaRPr dirty="0"/>
              </a:p>
            </p:txBody>
          </p:sp>
        </mc:Choice>
        <mc:Fallback xmlns="">
          <p:sp>
            <p:nvSpPr>
              <p:cNvPr id="97" name="Google Shape;97;p1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00150"/>
                <a:ext cx="8229600" cy="3429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2191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3255C-CABF-6444-7916-E1C05775F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Jacobian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00F5A-3903-22AB-02A7-FD6307C88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78040E-DA00-EEB5-77CC-D11932DBF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70" y="971550"/>
            <a:ext cx="6918960" cy="21861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4D92929-E3FC-175C-0BBE-BD1C3ADF7C5D}"/>
              </a:ext>
            </a:extLst>
          </p:cNvPr>
          <p:cNvSpPr/>
          <p:nvPr/>
        </p:nvSpPr>
        <p:spPr>
          <a:xfrm>
            <a:off x="2606040" y="3550920"/>
            <a:ext cx="2446020" cy="415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CD178D-6DA9-F030-B4CD-00126ABF7E01}"/>
              </a:ext>
            </a:extLst>
          </p:cNvPr>
          <p:cNvSpPr/>
          <p:nvPr/>
        </p:nvSpPr>
        <p:spPr>
          <a:xfrm>
            <a:off x="2206305" y="2718033"/>
            <a:ext cx="2558642" cy="4865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05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505B-27AA-FB68-94DF-F618F6D26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calculus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37B7A23-41EF-D9AC-B6D8-34650A43790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Instead of calculating derivatives element-by-element, we can often save a lot of time by using rules for derivatives at the level of vectors and matrices</a:t>
                </a:r>
              </a:p>
              <a:p>
                <a:endParaRPr lang="en-US" dirty="0"/>
              </a:p>
              <a:p>
                <a:r>
                  <a:rPr lang="en-US" dirty="0"/>
                  <a:t>For example, just like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𝑦𝑥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with scalars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for vectors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37B7A23-41EF-D9AC-B6D8-34650A4379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8859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81766-D946-0610-E0F3-2B6BF2220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calculus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2A71463-EBEB-67BF-FC49-9FD04092FC6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Very helpful to “shape check” computations at each step: do dimensions match? Are all gradients vectors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en-US" dirty="0"/>
                  <a:t> etc</a:t>
                </a:r>
              </a:p>
              <a:p>
                <a:endParaRPr lang="en-US" dirty="0"/>
              </a:p>
              <a:p>
                <a:r>
                  <a:rPr lang="en-US" dirty="0"/>
                  <a:t>Be careful about row vs column vectors when consulting external references!</a:t>
                </a:r>
              </a:p>
              <a:p>
                <a:r>
                  <a:rPr lang="en-US" dirty="0"/>
                  <a:t>	Both layout conventions are common, but give results that are typically transposes of each other</a:t>
                </a:r>
              </a:p>
              <a:p>
                <a:r>
                  <a:rPr lang="en-US" dirty="0"/>
                  <a:t>	The Math for ML book listed as a reference is row layout! However, we will use column layout for everything throughout the course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2A71463-EBEB-67BF-FC49-9FD04092FC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1895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80721-500D-EBBD-1683-5B014661B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derivative rules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0E265A2-0D7D-3BFE-6C22-D7B8FCB4645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2000" dirty="0"/>
                  <a:t>For functions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Sum rule: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Product rule: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0E265A2-0D7D-3BFE-6C22-D7B8FCB464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6500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466C1-9D14-42D8-421B-7EA7A5546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 rule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F337E0-94B1-D3A9-12C9-CC04D8363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61097"/>
            <a:ext cx="6539006" cy="2504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849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C2BE0-F867-596B-1887-45118CF9E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Helpful matrix calculus identities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7157140-D324-490B-753A-E6C67B07441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2000" b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𝑋𝑏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𝑋𝑎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1600" dirty="0"/>
                  <a:t>(survival guide: The Matrix Cookbook)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7157140-D324-490B-753A-E6C67B0744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61228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15D85-22D3-C531-EA2F-EEEAD9587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5EBA3-F2E5-1160-3568-56645F8ABE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6A7B62-CECC-B41A-8695-C4089CC19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18178"/>
            <a:ext cx="6813755" cy="222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10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BA07-DB0B-D1E0-2874-41CA6AB67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rule with Jacobians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4581D96-8506-5DCF-F337-4CDF9AF9D97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Consider functions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400" dirty="0"/>
                  <a:t>What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?</a:t>
                </a:r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4581D96-8506-5DCF-F337-4CDF9AF9D9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6219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BA07-DB0B-D1E0-2874-41CA6AB67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4581D96-8506-5DCF-F337-4CDF9AF9D97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Consider functions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400" dirty="0"/>
                  <a:t>What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?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What shape should the answer be?</a:t>
                </a:r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4581D96-8506-5DCF-F337-4CDF9AF9D9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70216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BA07-DB0B-D1E0-2874-41CA6AB67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4581D96-8506-5DCF-F337-4CDF9AF9D97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Consider functions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400" dirty="0"/>
                  <a:t>What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?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Answer: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Check that this is the right shape!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4581D96-8506-5DCF-F337-4CDF9AF9D9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79034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>
            <a:spLocks noGrp="1"/>
          </p:cNvSpPr>
          <p:nvPr>
            <p:ph type="body" idx="1"/>
          </p:nvPr>
        </p:nvSpPr>
        <p:spPr>
          <a:xfrm>
            <a:off x="934548" y="532520"/>
            <a:ext cx="6856903" cy="484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/>
          <a:p>
            <a:pPr marL="0" indent="0">
              <a:spcBef>
                <a:spcPts val="0"/>
              </a:spcBef>
              <a:buClr>
                <a:schemeClr val="lt1"/>
              </a:buClr>
              <a:buSzPct val="100000"/>
            </a:pPr>
            <a:r>
              <a:rPr lang="en-US" dirty="0"/>
              <a:t>Hessians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2C2CEAAF-2DAF-0AFE-6E28-303D0127107E}"/>
                  </a:ext>
                </a:extLst>
              </p:cNvPr>
              <p:cNvSpPr txBox="1">
                <a:spLocks noGrp="1"/>
              </p:cNvSpPr>
              <p:nvPr>
                <p:ph type="body" idx="2"/>
              </p:nvPr>
            </p:nvSpPr>
            <p:spPr>
              <a:xfrm>
                <a:off x="934548" y="1227582"/>
                <a:ext cx="6856903" cy="3573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4275" tIns="34275" rIns="34275" bIns="34275" anchor="t" anchorCtr="0">
                <a:noAutofit/>
              </a:bodyPr>
              <a:lstStyle/>
              <a:p>
                <a:pPr marL="428625" indent="-25717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Given 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that takes a vector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as input and returns a scalar, the </a:t>
                </a:r>
                <a:r>
                  <a:rPr lang="en-US" i="1" dirty="0"/>
                  <a:t>Hessian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the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i="1" dirty="0">
                    <a:solidFill>
                      <a:schemeClr val="accent1"/>
                    </a:solidFill>
                  </a:rPr>
                  <a:t> </a:t>
                </a:r>
                <a:r>
                  <a:rPr lang="en-US" i="1" dirty="0"/>
                  <a:t>matrix</a:t>
                </a:r>
                <a:r>
                  <a:rPr lang="en-US" dirty="0"/>
                  <a:t> of second order partial derivatives:</a:t>
                </a:r>
              </a:p>
              <a:p>
                <a:pPr marL="171450" indent="0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1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1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1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1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1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1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1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1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1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171450" indent="0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m:rPr>
                                  <m:brk m:alnAt="7"/>
                                </m:r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num>
                        <m:den>
                          <m:r>
                            <m:rPr>
                              <m:brk m:alnAt="7"/>
                            </m:r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2C2CEAAF-2DAF-0AFE-6E28-303D0127107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934548" y="1227582"/>
                <a:ext cx="6856903" cy="3573018"/>
              </a:xfrm>
              <a:prstGeom prst="rect">
                <a:avLst/>
              </a:prstGeom>
              <a:blipFill>
                <a:blip r:embed="rId3"/>
                <a:stretch>
                  <a:fillRect t="-170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16545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>
            <a:spLocks noGrp="1"/>
          </p:cNvSpPr>
          <p:nvPr>
            <p:ph type="body" idx="1"/>
          </p:nvPr>
        </p:nvSpPr>
        <p:spPr>
          <a:xfrm>
            <a:off x="934548" y="532520"/>
            <a:ext cx="6856903" cy="484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/>
          <a:p>
            <a:pPr marL="0" indent="0">
              <a:spcBef>
                <a:spcPts val="0"/>
              </a:spcBef>
              <a:buClr>
                <a:schemeClr val="lt1"/>
              </a:buClr>
              <a:buSzPct val="100000"/>
            </a:pPr>
            <a:r>
              <a:rPr lang="en-US"/>
              <a:t>Hessians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2C2CEAAF-2DAF-0AFE-6E28-303D0127107E}"/>
                  </a:ext>
                </a:extLst>
              </p:cNvPr>
              <p:cNvSpPr txBox="1">
                <a:spLocks noGrp="1"/>
              </p:cNvSpPr>
              <p:nvPr>
                <p:ph type="body" idx="2"/>
              </p:nvPr>
            </p:nvSpPr>
            <p:spPr>
              <a:xfrm>
                <a:off x="934548" y="1227582"/>
                <a:ext cx="6856903" cy="3573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4275" tIns="34275" rIns="34275" bIns="34275" anchor="t" anchorCtr="0">
                <a:noAutofit/>
              </a:bodyPr>
              <a:lstStyle/>
              <a:p>
                <a:pPr marL="428625" indent="-25717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Given 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that takes a vector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as input and returns a scalar, the </a:t>
                </a:r>
                <a:r>
                  <a:rPr lang="en-US" i="1" dirty="0"/>
                  <a:t>Hessian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the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i="1" dirty="0">
                    <a:solidFill>
                      <a:schemeClr val="accent1"/>
                    </a:solidFill>
                  </a:rPr>
                  <a:t> </a:t>
                </a:r>
                <a:r>
                  <a:rPr lang="en-US" i="1" dirty="0"/>
                  <a:t>matrix</a:t>
                </a:r>
                <a:r>
                  <a:rPr lang="en-US" dirty="0"/>
                  <a:t> of second order partial derivatives</a:t>
                </a:r>
              </a:p>
              <a:p>
                <a:pPr marL="428625" indent="-25717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428625" indent="-25717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The Hessian is analogous to the second order derivative of a scalar function,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…</a:t>
                </a:r>
              </a:p>
              <a:p>
                <a:pPr marL="428625" indent="-25717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428625" indent="-25717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But it is not the gradient of the gradient!</a:t>
                </a:r>
              </a:p>
              <a:p>
                <a:pPr marL="771525" lvl="1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Recall that the gradient is only defined for real-valued functions i.e. functions that return a scalar</a:t>
                </a:r>
              </a:p>
            </p:txBody>
          </p:sp>
        </mc:Choice>
        <mc:Fallback xmlns="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2C2CEAAF-2DAF-0AFE-6E28-303D0127107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934548" y="1227582"/>
                <a:ext cx="6856903" cy="3573018"/>
              </a:xfrm>
              <a:prstGeom prst="rect">
                <a:avLst/>
              </a:prstGeom>
              <a:blipFill>
                <a:blip r:embed="rId3"/>
                <a:stretch>
                  <a:fillRect t="-1704" r="-8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2770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>
            <a:spLocks noGrp="1"/>
          </p:cNvSpPr>
          <p:nvPr>
            <p:ph type="body" idx="1"/>
          </p:nvPr>
        </p:nvSpPr>
        <p:spPr>
          <a:xfrm>
            <a:off x="934548" y="532520"/>
            <a:ext cx="6856903" cy="484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/>
          <a:p>
            <a:pPr marL="0" indent="0">
              <a:spcBef>
                <a:spcPts val="0"/>
              </a:spcBef>
              <a:buClr>
                <a:schemeClr val="lt1"/>
              </a:buClr>
              <a:buSzPct val="100000"/>
            </a:pPr>
            <a:r>
              <a:rPr lang="en-US" dirty="0"/>
              <a:t>Hessians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2C2CEAAF-2DAF-0AFE-6E28-303D0127107E}"/>
                  </a:ext>
                </a:extLst>
              </p:cNvPr>
              <p:cNvSpPr txBox="1">
                <a:spLocks noGrp="1"/>
              </p:cNvSpPr>
              <p:nvPr>
                <p:ph type="body" idx="2"/>
              </p:nvPr>
            </p:nvSpPr>
            <p:spPr>
              <a:xfrm>
                <a:off x="934548" y="1227582"/>
                <a:ext cx="6856903" cy="3573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4275" tIns="34275" rIns="34275" bIns="34275" anchor="t" anchorCtr="0">
                <a:noAutofit/>
              </a:bodyPr>
              <a:lstStyle/>
              <a:p>
                <a:pPr marL="428625" indent="-25717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Given 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that takes a vector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as input and returns a scalar, the </a:t>
                </a:r>
                <a:r>
                  <a:rPr lang="en-US" i="1" dirty="0"/>
                  <a:t>Hessian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the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i="1" dirty="0">
                    <a:solidFill>
                      <a:schemeClr val="accent1"/>
                    </a:solidFill>
                  </a:rPr>
                  <a:t> </a:t>
                </a:r>
                <a:r>
                  <a:rPr lang="en-US" i="1" dirty="0"/>
                  <a:t>matrix</a:t>
                </a:r>
                <a:r>
                  <a:rPr lang="en-US" dirty="0"/>
                  <a:t> of second order partial derivatives</a:t>
                </a:r>
              </a:p>
              <a:p>
                <a:pPr marL="428625" indent="-25717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428625" indent="-25717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The Hessian is always symmetric because the order in which you take partial derivatives does not matter: </a:t>
                </a:r>
              </a:p>
              <a:p>
                <a:pPr marL="171450" indent="0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m:rPr>
                                  <m:brk m:alnAt="7"/>
                                </m:r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num>
                        <m:den>
                          <m:r>
                            <m:rPr>
                              <m:brk m:alnAt="7"/>
                            </m:r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m:rPr>
                                  <m:brk m:alnAt="7"/>
                                </m:r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num>
                        <m:den>
                          <m:r>
                            <m:rPr>
                              <m:brk m:alnAt="7"/>
                            </m:r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2C2CEAAF-2DAF-0AFE-6E28-303D0127107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934548" y="1227582"/>
                <a:ext cx="6856903" cy="3573018"/>
              </a:xfrm>
              <a:prstGeom prst="rect">
                <a:avLst/>
              </a:prstGeom>
              <a:blipFill>
                <a:blip r:embed="rId3"/>
                <a:stretch>
                  <a:fillRect t="-1704" r="-11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1809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>
            <a:spLocks noGrp="1"/>
          </p:cNvSpPr>
          <p:nvPr>
            <p:ph type="body" idx="1"/>
          </p:nvPr>
        </p:nvSpPr>
        <p:spPr>
          <a:xfrm>
            <a:off x="934548" y="532520"/>
            <a:ext cx="6856903" cy="484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/>
          <a:p>
            <a:pPr marL="0" indent="0">
              <a:spcBef>
                <a:spcPts val="0"/>
              </a:spcBef>
              <a:buClr>
                <a:schemeClr val="lt1"/>
              </a:buClr>
              <a:buSzPct val="100000"/>
            </a:pPr>
            <a:r>
              <a:rPr lang="en-US" dirty="0"/>
              <a:t>Hessians - Example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2C2CEAAF-2DAF-0AFE-6E28-303D0127107E}"/>
                  </a:ext>
                </a:extLst>
              </p:cNvPr>
              <p:cNvSpPr txBox="1">
                <a:spLocks noGrp="1"/>
              </p:cNvSpPr>
              <p:nvPr>
                <p:ph type="body" idx="2"/>
              </p:nvPr>
            </p:nvSpPr>
            <p:spPr>
              <a:xfrm>
                <a:off x="934548" y="1227582"/>
                <a:ext cx="6856903" cy="3573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4275" tIns="34275" rIns="34275" bIns="34275" anchor="t" anchorCtr="0">
                <a:noAutofit/>
              </a:bodyPr>
              <a:lstStyle/>
              <a:p>
                <a:pPr marL="428625" indent="-25717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Example function: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endParaRPr lang="en-US" dirty="0"/>
              </a:p>
              <a:p>
                <a:pPr marL="428625" indent="-25717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428625" indent="-25717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What is the Hessian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?</a:t>
                </a:r>
              </a:p>
              <a:p>
                <a:pPr marL="171450" indent="0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2C2CEAAF-2DAF-0AFE-6E28-303D0127107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934548" y="1227582"/>
                <a:ext cx="6856903" cy="3573018"/>
              </a:xfrm>
              <a:prstGeom prst="rect">
                <a:avLst/>
              </a:prstGeom>
              <a:blipFill>
                <a:blip r:embed="rId3"/>
                <a:stretch>
                  <a:fillRect t="-14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CED7699B-5421-BD80-FDFA-1CC0DB5911D6}"/>
              </a:ext>
            </a:extLst>
          </p:cNvPr>
          <p:cNvSpPr/>
          <p:nvPr/>
        </p:nvSpPr>
        <p:spPr>
          <a:xfrm>
            <a:off x="2268812" y="2221471"/>
            <a:ext cx="4862477" cy="20016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39311670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075B-49FB-099E-1079-2E420C54B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Taylor expansion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076D6B-6CC0-FFD5-41F0-67A151540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Very common use of (matrix) derivatives</a:t>
            </a:r>
          </a:p>
          <a:p>
            <a:r>
              <a:rPr lang="en-US" dirty="0"/>
              <a:t>Approximate a function by a low-order polynomial (linear, quadratic)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4758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90F5C-9284-1226-BFF6-60C6D6ED9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Refresher: scalar function Taylor expansion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A7DF8AE-7295-3502-0F4F-C39A6215938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Taylor series expansion around a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′′′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A7DF8AE-7295-3502-0F4F-C39A621593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Taylor Series approximation, newton's method and optimization">
            <a:extLst>
              <a:ext uri="{FF2B5EF4-FFF2-40B4-BE49-F238E27FC236}">
                <a16:creationId xmlns:a16="http://schemas.microsoft.com/office/drawing/2014/main" id="{966DCD0C-FD7E-5474-4632-2D1CA418F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7067" y="2228150"/>
            <a:ext cx="5639753" cy="255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25495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90FFD-259E-C6DE-980C-F8E3FBEFF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Refresher: scalar function Taylor expansion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D0C7103-013F-CAA8-DF66-35493A20618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200150"/>
                <a:ext cx="7840980" cy="3429000"/>
              </a:xfrm>
            </p:spPr>
            <p:txBody>
              <a:bodyPr/>
              <a:lstStyle/>
              <a:p>
                <a:r>
                  <a:rPr lang="en-US" dirty="0"/>
                  <a:t>For well-behaved functions, Taylor series converges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Given the right smoothness properties, can prove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well-approximated locally by the Taylor series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D0C7103-013F-CAA8-DF66-35493A2061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00150"/>
                <a:ext cx="7840980" cy="34290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Taylor Series approximation, newton's method and optimization">
            <a:extLst>
              <a:ext uri="{FF2B5EF4-FFF2-40B4-BE49-F238E27FC236}">
                <a16:creationId xmlns:a16="http://schemas.microsoft.com/office/drawing/2014/main" id="{EEFAB5FC-69C8-1B4E-2B8E-B9CCC79EC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967" y="2304350"/>
            <a:ext cx="5639753" cy="255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29315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71A1C-0FAD-3D8F-EEDB-C2B56EB51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Multivariate Taylor expansion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4C94912-3D6F-8B7B-82EE-14FB0C040CC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Taylor expansion to first order: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To second order: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Hessian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evaluated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4C94912-3D6F-8B7B-82EE-14FB0C040C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4704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12B24-DD24-E3C1-7AE4-F6F3B5E7E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Multivariable Taylor expansion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7748A6A-FD04-F06B-597B-D2612BF98AB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7748A6A-FD04-F06B-597B-D2612BF98A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05242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A09E6-BCBE-0123-19BB-B0765D782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application: Newton’s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AC0C356-E66B-6215-0B5E-825B4EF7471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Common problem: minimize a function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(e.g., minimizing the loss of a model)</a:t>
                </a:r>
              </a:p>
              <a:p>
                <a:endParaRPr lang="en-US" dirty="0"/>
              </a:p>
              <a:p>
                <a:r>
                  <a:rPr lang="en-US" dirty="0"/>
                  <a:t>One idea: iteratively minimize the Taylor expansion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b="0" dirty="0"/>
                  <a:t>, starting at initial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b="0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̃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AC0C356-E66B-6215-0B5E-825B4EF747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49834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FFA8A-1B75-F8DC-AB7F-12EFD6F32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Newton’s method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D579453-0813-7ED8-6C16-A319BAABC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" y="938957"/>
            <a:ext cx="6057900" cy="326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E5C2B6-924B-0FCE-EECA-F949A80261FA}"/>
              </a:ext>
            </a:extLst>
          </p:cNvPr>
          <p:cNvSpPr txBox="1"/>
          <p:nvPr/>
        </p:nvSpPr>
        <p:spPr>
          <a:xfrm>
            <a:off x="746760" y="4257883"/>
            <a:ext cx="7223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https://ardianumam.files.wordpress.com/2017/09/newtonmethodforoptim1.jpg</a:t>
            </a:r>
          </a:p>
        </p:txBody>
      </p:sp>
    </p:spTree>
    <p:extLst>
      <p:ext uri="{BB962C8B-B14F-4D97-AF65-F5344CB8AC3E}">
        <p14:creationId xmlns:p14="http://schemas.microsoft.com/office/powerpoint/2010/main" val="42533488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A09E6-BCBE-0123-19BB-B0765D782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Newton’s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AC0C356-E66B-6215-0B5E-825B4EF7471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One idea: iteratively minimize the Taylor expansion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b="0" dirty="0"/>
                  <a:t>, starting at initial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b="0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̃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Set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AC0C356-E66B-6215-0B5E-825B4EF747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2108429"/>
      </p:ext>
    </p:extLst>
  </p:cSld>
  <p:clrMapOvr>
    <a:masterClrMapping/>
  </p:clrMapOvr>
</p:sld>
</file>

<file path=ppt/theme/theme1.xml><?xml version="1.0" encoding="utf-8"?>
<a:theme xmlns:a="http://schemas.openxmlformats.org/drawingml/2006/main" name="CMU PPT Theme">
  <a:themeElements>
    <a:clrScheme name="Custom 1">
      <a:dk1>
        <a:srgbClr val="000000"/>
      </a:dk1>
      <a:lt1>
        <a:srgbClr val="FFFFFF"/>
      </a:lt1>
      <a:dk2>
        <a:srgbClr val="75787B"/>
      </a:dk2>
      <a:lt2>
        <a:srgbClr val="C8C9C7"/>
      </a:lt2>
      <a:accent1>
        <a:srgbClr val="BB0000"/>
      </a:accent1>
      <a:accent2>
        <a:srgbClr val="75787B"/>
      </a:accent2>
      <a:accent3>
        <a:srgbClr val="00833C"/>
      </a:accent3>
      <a:accent4>
        <a:srgbClr val="F2A900"/>
      </a:accent4>
      <a:accent5>
        <a:srgbClr val="002C71"/>
      </a:accent5>
      <a:accent6>
        <a:srgbClr val="C8C9C7"/>
      </a:accent6>
      <a:hlink>
        <a:srgbClr val="BB0000"/>
      </a:hlink>
      <a:folHlink>
        <a:srgbClr val="82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7546</TotalTime>
  <Words>1296</Words>
  <Application>Microsoft Macintosh PowerPoint</Application>
  <PresentationFormat>On-screen Show (16:9)</PresentationFormat>
  <Paragraphs>172</Paragraphs>
  <Slides>34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Helvetica Neue Light</vt:lpstr>
      <vt:lpstr>Cambria Math</vt:lpstr>
      <vt:lpstr>Calibri</vt:lpstr>
      <vt:lpstr>Open Sans Light</vt:lpstr>
      <vt:lpstr>Wingdings</vt:lpstr>
      <vt:lpstr>Noto Sans Symbols</vt:lpstr>
      <vt:lpstr>Open Sans</vt:lpstr>
      <vt:lpstr>Arial</vt:lpstr>
      <vt:lpstr>CMU PPT Theme</vt:lpstr>
      <vt:lpstr>PowerPoint Presentation</vt:lpstr>
      <vt:lpstr>Announcements</vt:lpstr>
      <vt:lpstr>Calculus</vt:lpstr>
      <vt:lpstr>Calculus warmup</vt:lpstr>
      <vt:lpstr>Calculus warmup</vt:lpstr>
      <vt:lpstr>Partial derivatives</vt:lpstr>
      <vt:lpstr>PowerPoint Presentation</vt:lpstr>
      <vt:lpstr>PowerPoint Presentation</vt:lpstr>
      <vt:lpstr>PowerPoint Presentation</vt:lpstr>
      <vt:lpstr>Gradient</vt:lpstr>
      <vt:lpstr>Gradient example</vt:lpstr>
      <vt:lpstr>Jacobian</vt:lpstr>
      <vt:lpstr>Jacobian example</vt:lpstr>
      <vt:lpstr>Matrix calculus</vt:lpstr>
      <vt:lpstr>Matrix calculus</vt:lpstr>
      <vt:lpstr>Matrix derivative rules</vt:lpstr>
      <vt:lpstr>Chain rule</vt:lpstr>
      <vt:lpstr>Helpful matrix calculus identities</vt:lpstr>
      <vt:lpstr>PowerPoint Presentation</vt:lpstr>
      <vt:lpstr>Product rule with Jacobians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Taylor expansion</vt:lpstr>
      <vt:lpstr>Refresher: scalar function Taylor expansion</vt:lpstr>
      <vt:lpstr>Refresher: scalar function Taylor expansion</vt:lpstr>
      <vt:lpstr>Multivariate Taylor expansion</vt:lpstr>
      <vt:lpstr>Multivariable Taylor expansion</vt:lpstr>
      <vt:lpstr>Example application: Newton’s method</vt:lpstr>
      <vt:lpstr>Newton’s method</vt:lpstr>
      <vt:lpstr>Newton’s method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Wilder, Bryan</dc:creator>
  <cp:lastModifiedBy>Bryan Wilder</cp:lastModifiedBy>
  <cp:revision>29</cp:revision>
  <dcterms:modified xsi:type="dcterms:W3CDTF">2025-09-22T13:27:28Z</dcterms:modified>
</cp:coreProperties>
</file>