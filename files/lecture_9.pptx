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6" r:id="rId1"/>
  </p:sldMasterIdLst>
  <p:notesMasterIdLst>
    <p:notesMasterId r:id="rId30"/>
  </p:notesMasterIdLst>
  <p:sldIdLst>
    <p:sldId id="263" r:id="rId2"/>
    <p:sldId id="27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9" r:id="rId11"/>
    <p:sldId id="298" r:id="rId12"/>
    <p:sldId id="300" r:id="rId13"/>
    <p:sldId id="301" r:id="rId14"/>
    <p:sldId id="278" r:id="rId15"/>
    <p:sldId id="302" r:id="rId16"/>
    <p:sldId id="303" r:id="rId17"/>
    <p:sldId id="304" r:id="rId18"/>
    <p:sldId id="316" r:id="rId19"/>
    <p:sldId id="322" r:id="rId20"/>
    <p:sldId id="323" r:id="rId21"/>
    <p:sldId id="279" r:id="rId22"/>
    <p:sldId id="284" r:id="rId23"/>
    <p:sldId id="286" r:id="rId24"/>
    <p:sldId id="285" r:id="rId25"/>
    <p:sldId id="287" r:id="rId26"/>
    <p:sldId id="288" r:id="rId27"/>
    <p:sldId id="290" r:id="rId28"/>
    <p:sldId id="289" r:id="rId29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1"/>
    </p:embeddedFont>
    <p:embeddedFont>
      <p:font typeface="Helvetica Neue Light" panose="02000403000000020004" pitchFamily="2" charset="0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Open Sans Light" panose="020B030603050402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/>
    <p:restoredTop sz="94726"/>
  </p:normalViewPr>
  <p:slideViewPr>
    <p:cSldViewPr snapToGrid="0">
      <p:cViewPr varScale="1">
        <p:scale>
          <a:sx n="154" d="100"/>
          <a:sy n="154" d="100"/>
        </p:scale>
        <p:origin x="472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420EEDAC-0515-DD3C-D0F9-C68C64EE8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067BD506-FD90-073B-EB58-40A5FB970E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9E4353CC-75E1-C44E-0E34-A358712AE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2FF36032-6C2B-9E5A-84A2-C0F8900C71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88194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53BC04D3-3A9E-626F-557D-8C8056AC5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F8BE1588-AA90-B221-8564-C718BE349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A1F054B5-6C6E-0832-82DB-87AF6E942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36EC0637-FA8C-D654-C02E-A4279DC8CA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4725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69D4DFA8-5058-FAD0-3E01-5B9FDDB5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4890fe8d41_0_2:notes">
            <a:extLst>
              <a:ext uri="{FF2B5EF4-FFF2-40B4-BE49-F238E27FC236}">
                <a16:creationId xmlns:a16="http://schemas.microsoft.com/office/drawing/2014/main" id="{F4D3FBE8-946D-24C4-AA2F-490AB0E1B2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4890fe8d41_0_2:notes">
            <a:extLst>
              <a:ext uri="{FF2B5EF4-FFF2-40B4-BE49-F238E27FC236}">
                <a16:creationId xmlns:a16="http://schemas.microsoft.com/office/drawing/2014/main" id="{84FB401B-37CE-6E5C-BAD2-75286685F3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14890fe8d41_0_2:notes">
            <a:extLst>
              <a:ext uri="{FF2B5EF4-FFF2-40B4-BE49-F238E27FC236}">
                <a16:creationId xmlns:a16="http://schemas.microsoft.com/office/drawing/2014/main" id="{0E7D36B7-1BEF-925C-E078-0219C8ADD7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5440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" name="Google Shape;22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B002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" name="Google Shape;2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09800" y="895350"/>
            <a:ext cx="3429000" cy="30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2" descr="_Plaid-Digital_FINAL-NEW.png"/>
          <p:cNvPicPr preferRelativeResize="0"/>
          <p:nvPr/>
        </p:nvPicPr>
        <p:blipFill rotWithShape="1">
          <a:blip r:embed="rId3">
            <a:alphaModFix/>
          </a:blip>
          <a:srcRect l="84737" t="23988" r="4770" b="1989"/>
          <a:stretch/>
        </p:blipFill>
        <p:spPr>
          <a:xfrm>
            <a:off x="457200" y="0"/>
            <a:ext cx="7905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Column">
  <p:cSld name="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">
  <p:cSld name="2 Column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624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727448" y="1212300"/>
            <a:ext cx="3959352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2"/>
          </p:nvPr>
        </p:nvSpPr>
        <p:spPr>
          <a:xfrm>
            <a:off x="32766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3"/>
          </p:nvPr>
        </p:nvSpPr>
        <p:spPr>
          <a:xfrm>
            <a:off x="6096000" y="1200150"/>
            <a:ext cx="25908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">
  <p:cSld name="4 Colum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2"/>
          </p:nvPr>
        </p:nvSpPr>
        <p:spPr>
          <a:xfrm>
            <a:off x="25654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3"/>
          </p:nvPr>
        </p:nvSpPr>
        <p:spPr>
          <a:xfrm>
            <a:off x="46736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4"/>
          </p:nvPr>
        </p:nvSpPr>
        <p:spPr>
          <a:xfrm>
            <a:off x="6781800" y="1200150"/>
            <a:ext cx="1905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2pPr>
            <a:lvl3pPr marL="1371600" lvl="2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3pPr>
            <a:lvl4pPr marL="1828800" lvl="3" indent="-35433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•"/>
              <a:defRPr/>
            </a:lvl4pPr>
            <a:lvl5pPr marL="2286000" lvl="4" indent="-354329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80"/>
              <a:buChar char="–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14074" y="275348"/>
            <a:ext cx="78867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414074" y="834883"/>
            <a:ext cx="7886700" cy="15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F5496"/>
              </a:buClr>
              <a:buSzPts val="2100"/>
              <a:buFont typeface="Noto Sans Symbols"/>
              <a:buNone/>
              <a:defRPr sz="2100" b="0" i="0" u="none" strike="noStrike" cap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▪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6822628" y="4771791"/>
            <a:ext cx="20574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>
  <p:cSld name="Content Slid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12"/>
          <p:cNvCxnSpPr/>
          <p:nvPr/>
        </p:nvCxnSpPr>
        <p:spPr>
          <a:xfrm>
            <a:off x="934548" y="1165883"/>
            <a:ext cx="6883052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934548" y="532520"/>
            <a:ext cx="4412456" cy="484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3600"/>
              <a:buNone/>
              <a:defRPr sz="2700"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body" idx="2"/>
          </p:nvPr>
        </p:nvSpPr>
        <p:spPr>
          <a:xfrm>
            <a:off x="934548" y="1724238"/>
            <a:ext cx="6883052" cy="225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>
                <a:solidFill>
                  <a:srgbClr val="5D5D5D"/>
                </a:solidFill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3"/>
          </p:nvPr>
        </p:nvSpPr>
        <p:spPr>
          <a:xfrm>
            <a:off x="934548" y="1314664"/>
            <a:ext cx="6883052" cy="30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342900" lvl="0" indent="-171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b="1">
                <a:solidFill>
                  <a:srgbClr val="5D5D5D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685800" lvl="1" indent="-257175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D5D5D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0" name="Google Shape;30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4381500"/>
            <a:ext cx="9144000" cy="76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0548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_Plaid-Digital_FINAL-NEW.png"/>
          <p:cNvPicPr preferRelativeResize="0"/>
          <p:nvPr/>
        </p:nvPicPr>
        <p:blipFill rotWithShape="1">
          <a:blip r:embed="rId11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 descr="_Plaid-Digital_FINAL-NEW.png"/>
          <p:cNvPicPr preferRelativeResize="0"/>
          <p:nvPr/>
        </p:nvPicPr>
        <p:blipFill rotWithShape="1">
          <a:blip r:embed="rId11">
            <a:alphaModFix/>
          </a:blip>
          <a:srcRect l="59550" t="20875" r="39888" b="2893"/>
          <a:stretch/>
        </p:blipFill>
        <p:spPr>
          <a:xfrm rot="5400000">
            <a:off x="3798887" y="1046163"/>
            <a:ext cx="60325" cy="76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200" b="0" i="0" u="none" strike="noStrike" cap="non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5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6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2639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26389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40"/>
              <a:buFont typeface="Arial"/>
              <a:buChar char="–"/>
              <a:defRPr sz="1400" b="0" i="1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772400" y="4248150"/>
            <a:ext cx="1154590" cy="736392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073918" y="64004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1"/>
          <p:cNvSpPr txBox="1"/>
          <p:nvPr/>
        </p:nvSpPr>
        <p:spPr>
          <a:xfrm>
            <a:off x="11226318" y="65528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11378718" y="67052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11531118" y="6857613"/>
            <a:ext cx="2798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‹#›</a:t>
            </a:fld>
            <a:endParaRPr sz="1200" b="0" i="0" u="none" strike="noStrike" cap="none">
              <a:solidFill>
                <a:srgbClr val="888888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8534400" y="100340"/>
            <a:ext cx="50689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1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‹#›</a:t>
            </a:fld>
            <a:endParaRPr sz="1100" b="0" i="0" u="none" strike="noStrike" cap="none">
              <a:solidFill>
                <a:srgbClr val="7F7F7F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0"/>
          <p:cNvCxnSpPr/>
          <p:nvPr/>
        </p:nvCxnSpPr>
        <p:spPr>
          <a:xfrm>
            <a:off x="2209800" y="3486150"/>
            <a:ext cx="54864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" name="Google Shape;58;p10"/>
          <p:cNvSpPr txBox="1"/>
          <p:nvPr/>
        </p:nvSpPr>
        <p:spPr>
          <a:xfrm>
            <a:off x="2133600" y="2038350"/>
            <a:ext cx="6798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lvl="0" indent="-3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4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Mathematical Foundations for ML (10-606):</a:t>
            </a:r>
            <a:endParaRPr sz="24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3900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Convexity and optimization</a:t>
            </a:r>
            <a:endParaRPr sz="39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endParaRPr sz="4000" dirty="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2133600" y="3638550"/>
            <a:ext cx="5257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175" marR="0" lvl="0" indent="-3175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Bryan Wilder</a:t>
            </a:r>
            <a:endParaRPr dirty="0"/>
          </a:p>
        </p:txBody>
      </p:sp>
      <p:sp>
        <p:nvSpPr>
          <p:cNvPr id="60" name="Google Shape;60;p10"/>
          <p:cNvSpPr txBox="1"/>
          <p:nvPr/>
        </p:nvSpPr>
        <p:spPr>
          <a:xfrm>
            <a:off x="2133600" y="4695325"/>
            <a:ext cx="6903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* Slides borrowed from prior offerings by Professors M. Gormley, P. Virtue, &amp; G. Gordon, &amp; H. </a:t>
            </a:r>
            <a:r>
              <a:rPr lang="en-US" sz="110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Heidari</a:t>
            </a:r>
            <a:r>
              <a:rPr lang="en-US" sz="110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10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075B-49FB-099E-1079-2E420C54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76D6B-6CC0-FFD5-41F0-67A151540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23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9F8-C36E-CC43-CB4B-B1831EC8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4FD61-2044-41D7-DF1C-2CA4B0AEAE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We have previously written expressions like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These are </a:t>
                </a:r>
                <a:r>
                  <a:rPr lang="en-US" i="1" dirty="0"/>
                  <a:t>optimization problems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goal is to find the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that makes the expression (the “objective function”) as small as possible</a:t>
                </a:r>
              </a:p>
              <a:p>
                <a:endParaRPr lang="en-US" dirty="0"/>
              </a:p>
              <a:p>
                <a:r>
                  <a:rPr lang="en-US" dirty="0"/>
                  <a:t>“Find the model parameters with the smallest squared error on the data”</a:t>
                </a:r>
              </a:p>
              <a:p>
                <a:r>
                  <a:rPr lang="en-US" dirty="0"/>
                  <a:t>“Find the shortest path from one point to another”</a:t>
                </a:r>
              </a:p>
              <a:p>
                <a:r>
                  <a:rPr lang="en-US" dirty="0"/>
                  <a:t>“Find the portfolio of stocks with highest historical returns”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4FD61-2044-41D7-DF1C-2CA4B0AEA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002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16AD0-8E71-7FC7-C2BE-85C8BE7D5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optimization problems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5E949-15EF-95A7-1E3F-D723E8E1B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Computationally, much of machine learning is just solving optimization problems</a:t>
            </a:r>
          </a:p>
          <a:p>
            <a:endParaRPr lang="en-US" dirty="0"/>
          </a:p>
          <a:p>
            <a:r>
              <a:rPr lang="en-US" dirty="0"/>
              <a:t>What makes optimization problems easier or harder to solve?</a:t>
            </a:r>
          </a:p>
        </p:txBody>
      </p:sp>
      <p:pic>
        <p:nvPicPr>
          <p:cNvPr id="1026" name="Picture 2" descr="nonconvex - Why should non-convexity be a problem in optimization? -  Computational Science Stack Exchange">
            <a:extLst>
              <a:ext uri="{FF2B5EF4-FFF2-40B4-BE49-F238E27FC236}">
                <a16:creationId xmlns:a16="http://schemas.microsoft.com/office/drawing/2014/main" id="{1961737C-B0E3-8F13-E721-607049532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329" y="2343150"/>
            <a:ext cx="2930877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onvex Optimization — Introduction - by BowTiedDevil">
            <a:extLst>
              <a:ext uri="{FF2B5EF4-FFF2-40B4-BE49-F238E27FC236}">
                <a16:creationId xmlns:a16="http://schemas.microsoft.com/office/drawing/2014/main" id="{A6C1AF00-7D5C-C9EC-18FE-20089696E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60" y="2266950"/>
            <a:ext cx="2672927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339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C2718-697D-C018-7053-3A5662D5D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3197C-738A-4F3D-F640-F72BF17D2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Critical points, local and global optimizers: what does it mean to be “optimal”?</a:t>
            </a:r>
          </a:p>
          <a:p>
            <a:pPr marL="228600" indent="0"/>
            <a:r>
              <a:rPr lang="en-US" dirty="0"/>
              <a:t>	(Whiteboard)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Finding (local) optima with matrix calculus</a:t>
            </a:r>
          </a:p>
          <a:p>
            <a:pPr marL="228600" indent="0"/>
            <a:r>
              <a:rPr lang="en-US" dirty="0"/>
              <a:t>	(Whiteboard)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Convexity: from local to global optima</a:t>
            </a:r>
          </a:p>
        </p:txBody>
      </p:sp>
    </p:spTree>
    <p:extLst>
      <p:ext uri="{BB962C8B-B14F-4D97-AF65-F5344CB8AC3E}">
        <p14:creationId xmlns:p14="http://schemas.microsoft.com/office/powerpoint/2010/main" val="157637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52AA-EA64-F53D-80F5-0538FEC89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Convexity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148D6-F273-FEF6-096A-DA64D78D5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Convex functions: class that is “easy” to optimize because all local minima are global</a:t>
            </a:r>
          </a:p>
        </p:txBody>
      </p:sp>
      <p:pic>
        <p:nvPicPr>
          <p:cNvPr id="2050" name="Picture 2" descr="Difference between convex and non-convex cost function; what does it mean  when a cost function is non-convex? | by Divine_inner_voice ❤️ | Medium">
            <a:extLst>
              <a:ext uri="{FF2B5EF4-FFF2-40B4-BE49-F238E27FC236}">
                <a16:creationId xmlns:a16="http://schemas.microsoft.com/office/drawing/2014/main" id="{B17941AF-2A4C-DD80-EB9E-5A6B1EDF9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372" y="1798776"/>
            <a:ext cx="4618264" cy="2482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522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C691-1E54-2CB1-F8D8-3F0439F0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of 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A01AAA9-F52C-2736-AD4D-568FEDE7863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1 −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“The curve lies below the line segment connecting any two points”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A01AAA9-F52C-2736-AD4D-568FEDE786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960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C691-1E54-2CB1-F8D8-3F0439F04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of convexity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CD00F-8848-9176-4506-F9A1C04F9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1555750"/>
            <a:ext cx="6286500" cy="13589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1AAA9-F52C-2736-AD4D-568FEDE786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First-order condition for differentiable f:</a:t>
            </a:r>
          </a:p>
        </p:txBody>
      </p:sp>
    </p:spTree>
    <p:extLst>
      <p:ext uri="{BB962C8B-B14F-4D97-AF65-F5344CB8AC3E}">
        <p14:creationId xmlns:p14="http://schemas.microsoft.com/office/powerpoint/2010/main" val="2014013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E482-41C5-5830-31DA-F1624C8CE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 of 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9698191-A0C6-229E-4320-16C66F57793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800" dirty="0"/>
                  <a:t>Second-order condition for twice-differentiable f:</a:t>
                </a:r>
              </a:p>
              <a:p>
                <a:endParaRPr lang="en-US" sz="1800" dirty="0"/>
              </a:p>
              <a:p>
                <a:r>
                  <a:rPr lang="en-US" sz="1800" dirty="0"/>
                  <a:t>For all x, the Hessian H(x) of f is positive semi-definite</a:t>
                </a:r>
              </a:p>
              <a:p>
                <a:endParaRPr lang="en-US" sz="1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)≽0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9698191-A0C6-229E-4320-16C66F5779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506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13B-D784-CA7C-A185-CA3F3455C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2F318-45F3-35A5-1FA7-2D5448A7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of 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0F52D65-7DDA-2800-12F8-DA62DF6150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571500" indent="-342900">
                  <a:buAutoNum type="arabicParenBoth"/>
                </a:pPr>
                <a:r>
                  <a:rPr lang="en-US" sz="1800" dirty="0"/>
                  <a:t>Any local minimizer we find is a global minimizer</a:t>
                </a:r>
              </a:p>
              <a:p>
                <a:pPr marL="571500" indent="-342900">
                  <a:buFont typeface="Arial"/>
                  <a:buAutoNum type="arabicParenBoth"/>
                </a:pPr>
                <a:r>
                  <a:rPr lang="en-US" sz="1800" dirty="0"/>
                  <a:t>If these inequalities hold strictly (e.g.,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≻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800" dirty="0"/>
                  <a:t>), then no saddle points either (“strictly convex”)</a:t>
                </a:r>
              </a:p>
              <a:p>
                <a:pPr marL="571500" indent="-342900">
                  <a:buFont typeface="Arial"/>
                  <a:buAutoNum type="arabicParenBoth"/>
                </a:pPr>
                <a:r>
                  <a:rPr lang="en-US" sz="1800" dirty="0"/>
                  <a:t>Efficient algorithms to find minimizers</a:t>
                </a:r>
              </a:p>
              <a:p>
                <a:pPr marL="571500" indent="-342900">
                  <a:buFont typeface="Arial"/>
                  <a:buAutoNum type="arabicParenBoth"/>
                </a:pPr>
                <a:r>
                  <a:rPr lang="en-US" sz="1800" dirty="0"/>
                  <a:t>Example: least squares</a:t>
                </a:r>
              </a:p>
              <a:p>
                <a:pPr marL="228600" indent="0"/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70F52D65-7DDA-2800-12F8-DA62DF615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3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Difference between convex and non-convex cost function; what does it mean  when a cost function is non-convex? | by Divine_inner_voice ❤️ | Medium">
            <a:extLst>
              <a:ext uri="{FF2B5EF4-FFF2-40B4-BE49-F238E27FC236}">
                <a16:creationId xmlns:a16="http://schemas.microsoft.com/office/drawing/2014/main" id="{FA39DA61-1A75-6B91-A280-CCE199FBA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314" y="2772428"/>
            <a:ext cx="3736966" cy="2009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4438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97566-A098-0C90-43AF-AC95FDFDD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that preserve convexity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AD774F-B965-E29D-D2E6-A031A18E5A9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be convex functions. Then, the following are convex:</a:t>
                </a:r>
              </a:p>
              <a:p>
                <a:endParaRPr lang="en-US" dirty="0"/>
              </a:p>
              <a:p>
                <a:r>
                  <a:rPr lang="en-US" dirty="0"/>
                  <a:t>Non-negative linear combination: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accent1"/>
                    </a:solidFill>
                  </a:rPr>
                  <a:t>Note: linear combination with negative coefficients is not, in general, convex</a:t>
                </a:r>
              </a:p>
              <a:p>
                <a:endParaRPr lang="en-US" dirty="0"/>
              </a:p>
              <a:p>
                <a:r>
                  <a:rPr lang="en-US" dirty="0"/>
                  <a:t>Pointwise maximum: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FAD774F-B965-E29D-D2E6-A031A18E5A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240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79019-FBAC-8A44-1554-4C68C76A7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EFEB2-DC7E-E395-3F37-5D11D2F9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2D9DBD2-E25D-BE8E-C2D9-E8CD656D50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5143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Go-to algorithm for minimizing functions</a:t>
                </a:r>
              </a:p>
              <a:p>
                <a:pPr marL="228600" indent="0"/>
                <a:endParaRPr lang="en-US" dirty="0"/>
              </a:p>
              <a:p>
                <a:pPr marL="228600" indent="0"/>
                <a:r>
                  <a:rPr lang="en-US" dirty="0"/>
                  <a:t>To minimize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marL="228600" indent="0"/>
                <a:r>
                  <a:rPr lang="en-US" dirty="0"/>
                  <a:t>Start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initialized to an arbitrary point</a:t>
                </a:r>
              </a:p>
              <a:p>
                <a:pPr marL="228600" indent="0"/>
                <a:r>
                  <a:rPr lang="en-US" dirty="0"/>
                  <a:t>Iterate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𝜂𝛻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the “step size”</a:t>
                </a:r>
              </a:p>
              <a:p>
                <a:pPr marL="228600" indent="0"/>
                <a:endParaRPr lang="en-US" i="1" dirty="0"/>
              </a:p>
              <a:p>
                <a:pPr marL="228600" indent="0"/>
                <a:endParaRPr lang="en-US" dirty="0"/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Guaranteed to find the global minimizer for convex functions. Otherwise converges to a local minimizer (but no guarantees about which one)</a:t>
                </a:r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Notebook: examples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2D9DBD2-E25D-BE8E-C2D9-E8CD656D50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195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6E113-0EBE-3119-CCF0-5FD7E44F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CF8E9-23D2-8E9A-A042-55E09A29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for matrix factorization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062D1-85A4-D452-2BCD-B2A324A77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way to efficiently compute a matrix factorization: gradient descent!</a:t>
            </a:r>
          </a:p>
        </p:txBody>
      </p:sp>
    </p:spTree>
    <p:extLst>
      <p:ext uri="{BB962C8B-B14F-4D97-AF65-F5344CB8AC3E}">
        <p14:creationId xmlns:p14="http://schemas.microsoft.com/office/powerpoint/2010/main" val="1497841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sp>
        <p:nvSpPr>
          <p:cNvPr id="219" name="Google Shape;219;p3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77AE29-6B97-5F0E-4FEB-94B976680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31" y="1141869"/>
            <a:ext cx="5890472" cy="3545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2294FB-9CD8-E8CA-7686-8F00E2D9D1F0}"/>
              </a:ext>
            </a:extLst>
          </p:cNvPr>
          <p:cNvSpPr txBox="1"/>
          <p:nvPr/>
        </p:nvSpPr>
        <p:spPr>
          <a:xfrm>
            <a:off x="465513" y="4629150"/>
            <a:ext cx="593113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</a:t>
            </a:r>
            <a:r>
              <a:rPr lang="en-US" sz="1050" dirty="0" err="1"/>
              <a:t>developers.google.com</a:t>
            </a:r>
            <a:r>
              <a:rPr lang="en-US" sz="1050" dirty="0"/>
              <a:t>/machine-learning/recommendation/collaborative/basics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17FA47FA-B5A8-3A80-C276-7A72B74E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5B5F4C3F-8131-FE0C-5C62-7C740014C9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sp>
        <p:nvSpPr>
          <p:cNvPr id="219" name="Google Shape;219;p31">
            <a:extLst>
              <a:ext uri="{FF2B5EF4-FFF2-40B4-BE49-F238E27FC236}">
                <a16:creationId xmlns:a16="http://schemas.microsoft.com/office/drawing/2014/main" id="{D0CBC87B-0F51-09A9-83AA-E8BE5452B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42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79396A-2E09-B985-3066-2BE3E7F3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9" y="971551"/>
            <a:ext cx="7112877" cy="360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51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06D1A695-15B4-ADF2-1E92-D04B9E84B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EEF3D7BA-94F7-F449-3D7A-35C4B0A731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5C9FB9-97D2-6CCF-EC72-815DFD435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94" y="968347"/>
            <a:ext cx="5810596" cy="381320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A5E80-0252-E30F-E257-FA5C3C190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4314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60F678A1-4B16-696B-A2E1-3B722A1B5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>
            <a:extLst>
              <a:ext uri="{FF2B5EF4-FFF2-40B4-BE49-F238E27FC236}">
                <a16:creationId xmlns:a16="http://schemas.microsoft.com/office/drawing/2014/main" id="{8663DAD9-A7F4-10A0-DD03-F0A172891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61950"/>
            <a:ext cx="8229600" cy="609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sz="2000" dirty="0"/>
              <a:t>Why Math for ML (10-606)? Recommendation systems</a:t>
            </a:r>
            <a:endParaRPr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711BAD-0CAE-A9ED-05FA-E67FAD72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594" y="968347"/>
            <a:ext cx="5810596" cy="381320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BED9D-037D-247D-38E7-F61755057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39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135C-CC15-6FDC-1532-15974A43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72FCD6-ECA7-E699-1FE1-09B7FD3FE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Low-rank matrices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C7D800-820C-C3EB-E86D-792C111AB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143" y="1165897"/>
            <a:ext cx="5829300" cy="28095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81E563-2B56-F91D-D80B-44E8E88BACCA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934548" y="4126396"/>
                <a:ext cx="6883052" cy="484584"/>
              </a:xfrm>
            </p:spPr>
            <p:txBody>
              <a:bodyPr>
                <a:normAutofit lnSpcReduction="10000"/>
              </a:bodyPr>
              <a:lstStyle/>
              <a:p>
                <a:pPr marL="171450" indent="0"/>
                <a:r>
                  <a:rPr lang="en-US" dirty="0"/>
                  <a:t>A rank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matrix is the sum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rank-one matrices, or equivalently the product of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matrix and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matrix!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181E563-2B56-F91D-D80B-44E8E88BAC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4126396"/>
                <a:ext cx="6883052" cy="484584"/>
              </a:xfrm>
              <a:blipFill>
                <a:blip r:embed="rId3"/>
                <a:stretch>
                  <a:fillRect t="-2564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1969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247A4-994B-0B37-BB73-3DB7734BE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BA8716-95B5-582B-E2B2-32FA39010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Low-rank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82E4868-C8D9-2FFF-9031-C3C80D7395F4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/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be the set of entries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are observed</a:t>
                </a:r>
              </a:p>
              <a:p>
                <a:endParaRPr lang="en-US" dirty="0"/>
              </a:p>
              <a:p>
                <a:r>
                  <a:rPr lang="en-US" dirty="0"/>
                  <a:t>Goal: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82E4868-C8D9-2FFF-9031-C3C80D739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blipFill>
                <a:blip r:embed="rId2"/>
                <a:stretch>
                  <a:fillRect b="-123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F368A-0106-5036-EA20-F8715AD9B33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 lnSpcReduction="1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F8E61-8B5D-640A-1F06-17C0252C7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52536"/>
            <a:ext cx="3008719" cy="1450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047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F8BA0-8C58-4E7C-4F08-950DB1F76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BAAA8F3-6341-E70E-805F-636577BEA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Low-rank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F5AC3-F1C1-D44B-A011-E31515424C21}"/>
                  </a:ext>
                </a:extLst>
              </p:cNvPr>
              <p:cNvSpPr>
                <a:spLocks noGrp="1"/>
              </p:cNvSpPr>
              <p:nvPr>
                <p:ph type="body" idx="2"/>
              </p:nvPr>
            </p:nvSpPr>
            <p:spPr>
              <a:xfrm>
                <a:off x="934548" y="1217162"/>
                <a:ext cx="6883052" cy="3313274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 be the set of entries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that are observed</a:t>
                </a:r>
              </a:p>
              <a:p>
                <a:endParaRPr lang="en-US" dirty="0"/>
              </a:p>
              <a:p>
                <a:r>
                  <a:rPr lang="en-US" dirty="0"/>
                  <a:t>Goal: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𝑌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𝑍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Define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:,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Gradient descent: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dirty="0"/>
                  <a:t> using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=−2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F9F5AC3-F1C1-D44B-A011-E31515424C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2"/>
              </p:nvPr>
            </p:nvSpPr>
            <p:spPr>
              <a:xfrm>
                <a:off x="934548" y="1217162"/>
                <a:ext cx="6883052" cy="3313274"/>
              </a:xfrm>
              <a:blipFill>
                <a:blip r:embed="rId2"/>
                <a:stretch>
                  <a:fillRect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8958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075B-49FB-099E-1079-2E420C54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Taylor expansion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76D6B-6CC0-FFD5-41F0-67A1515404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Very common use of (matrix) derivatives</a:t>
            </a:r>
          </a:p>
          <a:p>
            <a:r>
              <a:rPr lang="en-US" dirty="0"/>
              <a:t>Approximate a function by a low-order polynomial (linear, quadratic)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475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90F5C-9284-1226-BFF6-60C6D6ED9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Refresher: scalar function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7DF8AE-7295-3502-0F4F-C39A6215938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Taylor series expansion around 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′′′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A7DF8AE-7295-3502-0F4F-C39A62159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Taylor Series approximation, newton's method and optimization">
            <a:extLst>
              <a:ext uri="{FF2B5EF4-FFF2-40B4-BE49-F238E27FC236}">
                <a16:creationId xmlns:a16="http://schemas.microsoft.com/office/drawing/2014/main" id="{966DCD0C-FD7E-5474-4632-2D1CA418F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067" y="2228150"/>
            <a:ext cx="5639753" cy="255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2549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90FFD-259E-C6DE-980C-F8E3FBEF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Refresher: scalar function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0C7103-013F-CAA8-DF66-35493A20618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200150"/>
                <a:ext cx="7840980" cy="3429000"/>
              </a:xfrm>
            </p:spPr>
            <p:txBody>
              <a:bodyPr/>
              <a:lstStyle/>
              <a:p>
                <a:r>
                  <a:rPr lang="en-US" dirty="0"/>
                  <a:t>For well-behaved functions, Taylor series converges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Given the right smoothness properties, can prove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is well-approximated locally by the Taylor series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D0C7103-013F-CAA8-DF66-35493A2061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200150"/>
                <a:ext cx="7840980" cy="3429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Taylor Series approximation, newton's method and optimization">
            <a:extLst>
              <a:ext uri="{FF2B5EF4-FFF2-40B4-BE49-F238E27FC236}">
                <a16:creationId xmlns:a16="http://schemas.microsoft.com/office/drawing/2014/main" id="{EEFAB5FC-69C8-1B4E-2B8E-B9CCC79EC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967" y="2304350"/>
            <a:ext cx="5639753" cy="255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2931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71A1C-0FAD-3D8F-EEDB-C2B56EB51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C94912-3D6F-8B7B-82EE-14FB0C040C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Taylor expansion to first 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To second order: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the Hessian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evaluated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4C94912-3D6F-8B7B-82EE-14FB0C040C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70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12B24-DD24-E3C1-7AE4-F6F3B5E7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Taylor expansion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748A6A-FD04-F06B-597B-D2612BF98AB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7748A6A-FD04-F06B-597B-D2612BF98A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0524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09E6-BCBE-0123-19BB-B0765D78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application: 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Common problem: minimize a function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(e.g., minimizing the loss of a model)</a:t>
                </a:r>
              </a:p>
              <a:p>
                <a:endParaRPr lang="en-US" dirty="0"/>
              </a:p>
              <a:p>
                <a:r>
                  <a:rPr lang="en-US" dirty="0"/>
                  <a:t>One idea: iteratively minimize the Taylor expansion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0" dirty="0"/>
                  <a:t>, starting at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983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FFA8A-1B75-F8DC-AB7F-12EFD6F32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579453-0813-7ED8-6C16-A319BAAB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" y="938957"/>
            <a:ext cx="6057900" cy="3265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E5C2B6-924B-0FCE-EECA-F949A80261FA}"/>
              </a:ext>
            </a:extLst>
          </p:cNvPr>
          <p:cNvSpPr txBox="1"/>
          <p:nvPr/>
        </p:nvSpPr>
        <p:spPr>
          <a:xfrm>
            <a:off x="746760" y="4257883"/>
            <a:ext cx="722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https://ardianumam.files.wordpress.com/2017/09/newtonmethodforoptim1.jpg</a:t>
            </a:r>
          </a:p>
        </p:txBody>
      </p:sp>
    </p:spTree>
    <p:extLst>
      <p:ext uri="{BB962C8B-B14F-4D97-AF65-F5344CB8AC3E}">
        <p14:creationId xmlns:p14="http://schemas.microsoft.com/office/powerpoint/2010/main" val="4253348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A09E6-BCBE-0123-19BB-B0765D782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Newton’s method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One idea: iteratively minimize the Taylor expansion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b="0" dirty="0"/>
                  <a:t>, starting at initial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̃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𝐻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AC0C356-E66B-6215-0B5E-825B4EF747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108429"/>
      </p:ext>
    </p:extLst>
  </p:cSld>
  <p:clrMapOvr>
    <a:masterClrMapping/>
  </p:clrMapOvr>
</p:sld>
</file>

<file path=ppt/theme/theme1.xml><?xml version="1.0" encoding="utf-8"?>
<a:theme xmlns:a="http://schemas.openxmlformats.org/drawingml/2006/main" name="CMU PPT Theme">
  <a:themeElements>
    <a:clrScheme name="Custom 1">
      <a:dk1>
        <a:srgbClr val="000000"/>
      </a:dk1>
      <a:lt1>
        <a:srgbClr val="FFFFFF"/>
      </a:lt1>
      <a:dk2>
        <a:srgbClr val="75787B"/>
      </a:dk2>
      <a:lt2>
        <a:srgbClr val="C8C9C7"/>
      </a:lt2>
      <a:accent1>
        <a:srgbClr val="BB0000"/>
      </a:accent1>
      <a:accent2>
        <a:srgbClr val="75787B"/>
      </a:accent2>
      <a:accent3>
        <a:srgbClr val="00833C"/>
      </a:accent3>
      <a:accent4>
        <a:srgbClr val="F2A900"/>
      </a:accent4>
      <a:accent5>
        <a:srgbClr val="002C71"/>
      </a:accent5>
      <a:accent6>
        <a:srgbClr val="C8C9C7"/>
      </a:accent6>
      <a:hlink>
        <a:srgbClr val="BB0000"/>
      </a:hlink>
      <a:folHlink>
        <a:srgbClr val="82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8757</TotalTime>
  <Words>992</Words>
  <Application>Microsoft Macintosh PowerPoint</Application>
  <PresentationFormat>On-screen Show (16:9)</PresentationFormat>
  <Paragraphs>151</Paragraphs>
  <Slides>28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Helvetica Neue Light</vt:lpstr>
      <vt:lpstr>Cambria Math</vt:lpstr>
      <vt:lpstr>Calibri</vt:lpstr>
      <vt:lpstr>Open Sans Light</vt:lpstr>
      <vt:lpstr>Wingdings</vt:lpstr>
      <vt:lpstr>Noto Sans Symbols</vt:lpstr>
      <vt:lpstr>Open Sans</vt:lpstr>
      <vt:lpstr>Arial</vt:lpstr>
      <vt:lpstr>CMU PPT Theme</vt:lpstr>
      <vt:lpstr>PowerPoint Presentation</vt:lpstr>
      <vt:lpstr>Announcements</vt:lpstr>
      <vt:lpstr>Optimization</vt:lpstr>
      <vt:lpstr>Solving optimization problems</vt:lpstr>
      <vt:lpstr>Outline</vt:lpstr>
      <vt:lpstr>Convexity</vt:lpstr>
      <vt:lpstr>Definitions of convexity</vt:lpstr>
      <vt:lpstr>Definitions of convexity</vt:lpstr>
      <vt:lpstr>Definitions of convexity</vt:lpstr>
      <vt:lpstr>Implications of convexity</vt:lpstr>
      <vt:lpstr>Operations that preserve convexity</vt:lpstr>
      <vt:lpstr>Gradient descent</vt:lpstr>
      <vt:lpstr>Gradient descent for matrix factorization</vt:lpstr>
      <vt:lpstr>Why Math for ML (10-606)? Recommendation systems</vt:lpstr>
      <vt:lpstr>Why Math for ML (10-606)? Recommendation systems</vt:lpstr>
      <vt:lpstr>Why Math for ML (10-606)? Recommendation systems</vt:lpstr>
      <vt:lpstr>Why Math for ML (10-606)? Recommendation systems</vt:lpstr>
      <vt:lpstr>PowerPoint Presentation</vt:lpstr>
      <vt:lpstr>PowerPoint Presentation</vt:lpstr>
      <vt:lpstr>PowerPoint Presentation</vt:lpstr>
      <vt:lpstr>Taylor expansion</vt:lpstr>
      <vt:lpstr>Refresher: scalar function Taylor expansion</vt:lpstr>
      <vt:lpstr>Refresher: scalar function Taylor expansion</vt:lpstr>
      <vt:lpstr>Multivariate Taylor expansion</vt:lpstr>
      <vt:lpstr>Multivariable Taylor expansion</vt:lpstr>
      <vt:lpstr>Example application: Newton’s method</vt:lpstr>
      <vt:lpstr>Newton’s method</vt:lpstr>
      <vt:lpstr>Newton’s method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Wilder, Bryan</dc:creator>
  <cp:lastModifiedBy>Bryan Wilder</cp:lastModifiedBy>
  <cp:revision>43</cp:revision>
  <dcterms:modified xsi:type="dcterms:W3CDTF">2025-09-24T14:11:07Z</dcterms:modified>
</cp:coreProperties>
</file>