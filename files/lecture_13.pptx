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ink/ink1.xml" ContentType="application/inkml+xml"/>
  <Override PartName="/ppt/notesSlides/notesSlide13.xml" ContentType="application/vnd.openxmlformats-officedocument.presentationml.notesSlide+xml"/>
  <Override PartName="/ppt/ink/ink2.xml" ContentType="application/inkml+xml"/>
  <Override PartName="/ppt/notesSlides/notesSlide14.xml" ContentType="application/vnd.openxmlformats-officedocument.presentationml.notesSlide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43"/>
  </p:notesMasterIdLst>
  <p:sldIdLst>
    <p:sldId id="263" r:id="rId3"/>
    <p:sldId id="2452" r:id="rId4"/>
    <p:sldId id="2474" r:id="rId5"/>
    <p:sldId id="2475" r:id="rId6"/>
    <p:sldId id="2476" r:id="rId7"/>
    <p:sldId id="2477" r:id="rId8"/>
    <p:sldId id="2478" r:id="rId9"/>
    <p:sldId id="262" r:id="rId10"/>
    <p:sldId id="2479" r:id="rId11"/>
    <p:sldId id="2481" r:id="rId12"/>
    <p:sldId id="266" r:id="rId13"/>
    <p:sldId id="2480" r:id="rId14"/>
    <p:sldId id="264" r:id="rId15"/>
    <p:sldId id="2482" r:id="rId16"/>
    <p:sldId id="265" r:id="rId17"/>
    <p:sldId id="267" r:id="rId18"/>
    <p:sldId id="2454" r:id="rId19"/>
    <p:sldId id="268" r:id="rId20"/>
    <p:sldId id="269" r:id="rId21"/>
    <p:sldId id="2453" r:id="rId22"/>
    <p:sldId id="2473" r:id="rId23"/>
    <p:sldId id="2456" r:id="rId24"/>
    <p:sldId id="2457" r:id="rId25"/>
    <p:sldId id="2458" r:id="rId26"/>
    <p:sldId id="2459" r:id="rId27"/>
    <p:sldId id="2460" r:id="rId28"/>
    <p:sldId id="2461" r:id="rId29"/>
    <p:sldId id="2462" r:id="rId30"/>
    <p:sldId id="2449" r:id="rId31"/>
    <p:sldId id="2455" r:id="rId32"/>
    <p:sldId id="2463" r:id="rId33"/>
    <p:sldId id="2464" r:id="rId34"/>
    <p:sldId id="2465" r:id="rId35"/>
    <p:sldId id="2466" r:id="rId36"/>
    <p:sldId id="2467" r:id="rId37"/>
    <p:sldId id="743" r:id="rId38"/>
    <p:sldId id="2469" r:id="rId39"/>
    <p:sldId id="2470" r:id="rId40"/>
    <p:sldId id="2472" r:id="rId41"/>
    <p:sldId id="2471" r:id="rId42"/>
  </p:sldIdLst>
  <p:sldSz cx="12192000" cy="6858000"/>
  <p:notesSz cx="9296400" cy="701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t Virtue" initials="PV" lastIdx="1" clrIdx="0">
    <p:extLst>
      <p:ext uri="{19B8F6BF-5375-455C-9EA6-DF929625EA0E}">
        <p15:presenceInfo xmlns:p15="http://schemas.microsoft.com/office/powerpoint/2012/main" userId="aff125923c56321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0093"/>
    <a:srgbClr val="FF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39" autoAdjust="0"/>
    <p:restoredTop sz="79863" autoAdjust="0"/>
  </p:normalViewPr>
  <p:slideViewPr>
    <p:cSldViewPr snapToGrid="0">
      <p:cViewPr varScale="1">
        <p:scale>
          <a:sx n="96" d="100"/>
          <a:sy n="96" d="100"/>
        </p:scale>
        <p:origin x="944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commentAuthors" Target="commentAuthor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5T23:19:25.189"/>
    </inkml:context>
    <inkml:brush xml:id="br0">
      <inkml:brushProperty name="height" value="0.053" units="cm"/>
      <inkml:brushProperty name="color" value="#FF0000"/>
    </inkml:brush>
  </inkml:definitions>
  <inkml:trace contextRef="#ctx0" brushRef="#br0">22084 11770 6167,'8'-7'533,"0"6"1,-5-6 102,2 1-289,-1 4 0,-4-6 56,0 3 1,-6 2-121,-4-6 0,-2 5 0,-1-2 0,2 1 21,1 0 0,-1-1 1,-7 3-1,-1-2-68,1 2 0,1-4 1,-1 1-124,-1-2 0,-5 5 0,3-4 1,-1 3-1,-4-1-5,-1 2 0,3 1 0,0 2-104,-1 0 1,-1 0 0,1 0 0,2 0 0,2 2-88,4 2 0,1 4 1,1 5-1,1-2-22,0-1 1,4 0 0,2 4 0,2 0-134,3 1 1,1 4 0,2 0 0,2 0 57,2 2 0,-1-3 1,7 4-1,1 0-17,2 1 1,6-6 0,2 3-1,0-3-2,0 2 1,4-7 0,-2 2 84,-1-1 0,4-2 0,-7-1 0,0-4 1,0-1 101,0 0 1,0-1 0,-4-4 0,-1 0 102,1 0 1,1-4 0,1-3-1,2-2 60,-1-7 0,-2 1 1,-2-6-1,1 2 45,-1 0 0,0-5 0,-1 3 0,-2 0 26,-1 1 1,-5-4-1,3 5 1,-2-1 15,-3 0 1,-1 4 0,-4-4 0,-1 3-9,-2-2 0,-7 7 0,-1-2 0,-5 1-154,1 0 1,-6 4-1,1 1 1,-2 0-66,0 0 0,2 5 1,-4-2-445,2 3 1,2 2-1,-2 0 1,4 2-551,4 3 0,4 3 1,2 6 982,5 0 0,10 1 0,3-1 0</inkml:trace>
  <inkml:trace contextRef="#ctx0" brushRef="#br0" timeOffset="1">22789 12216 7853,'8'0'-1501,"4"-2"1760,-2-3 1,-4 2 0,1-5 325,-1 2 0,-4-6-251,3 3 1,-4 1 0,-2 0-1,-4 1 68,-5 4 1,-1 0 0,0 0-1,1-2-106,-1 2 1,-2 1-1,-3 4-186,-3 3 0,3-2 0,-3 6 0,1 1 0,1 0-46,-3-1 1,1 2 0,5 7 0,0 1-431,-1-1 0,2 3 1,2-1 58,2 3 0,4 1 1,-3 3-1,1-2 1,4-1 89,2 2 0,2-5 0,4-2 0,5-3 197,2-2 0,3-4 0,-1-2 0,2-2 115,3-2 0,-1-3 0,4-2 0,1-4 77,-1-5 0,0-3 1,4-1-1,-4 0 70,-1-1 0,-2 1 0,-4-1 0,-2-1 223,-4-3 1,2 6 0,-6-4-57,-2-1 0,-3 1 0,-5 2 1,-4 3-224,-4 2 0,-3-1 0,-3 6-478,-5 2 0,2 1 1,-2 2-1,0 0 0,0 0-1303,0 0 1,6 0 1594,-1 0 0,-3-6 0,-1-2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5T23:19:25.189"/>
    </inkml:context>
    <inkml:brush xml:id="br0">
      <inkml:brushProperty name="height" value="0.053" units="cm"/>
      <inkml:brushProperty name="color" value="#FF0000"/>
    </inkml:brush>
  </inkml:definitions>
  <inkml:trace contextRef="#ctx0" brushRef="#br0">22084 11770 6167,'8'-7'533,"0"6"1,-5-6 102,2 1-289,-1 4 0,-4-6 56,0 3 1,-6 2-121,-4-6 0,-2 5 0,-1-2 0,2 1 21,1 0 0,-1-1 1,-7 3-1,-1-2-68,1 2 0,1-4 1,-1 1-124,-1-2 0,-5 5 0,3-4 1,-1 3-1,-4-1-5,-1 2 0,3 1 0,0 2-104,-1 0 1,-1 0 0,1 0 0,2 0 0,2 2-88,4 2 0,1 4 1,1 5-1,1-2-22,0-1 1,4 0 0,2 4 0,2 0-134,3 1 1,1 4 0,2 0 0,2 0 57,2 2 0,-1-3 1,7 4-1,1 0-17,2 1 1,6-6 0,2 3-1,0-3-2,0 2 1,4-7 0,-2 2 84,-1-1 0,4-2 0,-7-1 0,0-4 1,0-1 101,0 0 1,0-1 0,-4-4 0,-1 0 102,1 0 1,1-4 0,1-3-1,2-2 60,-1-7 0,-2 1 1,-2-6-1,1 2 45,-1 0 0,0-5 0,-1 3 0,-2 0 26,-1 1 1,-5-4-1,3 5 1,-2-1 15,-3 0 1,-1 4 0,-4-4 0,-1 3-9,-2-2 0,-7 7 0,-1-2 0,-5 1-154,1 0 1,-6 4-1,1 1 1,-2 0-66,0 0 0,2 5 1,-4-2-445,2 3 1,2 2-1,-2 0 1,4 2-551,4 3 0,4 3 1,2 6 982,5 0 0,10 1 0,3-1 0</inkml:trace>
  <inkml:trace contextRef="#ctx0" brushRef="#br0" timeOffset="1">22789 12216 7853,'8'0'-1501,"4"-2"1760,-2-3 1,-4 2 0,1-5 325,-1 2 0,-4-6-251,3 3 1,-4 1 0,-2 0-1,-4 1 68,-5 4 1,-1 0 0,0 0-1,1-2-106,-1 2 1,-2 1-1,-3 4-186,-3 3 0,3-2 0,-3 6 0,1 1 0,1 0-46,-3-1 1,1 2 0,5 7 0,0 1-431,-1-1 0,2 3 1,2-1 58,2 3 0,4 1 1,-3 3-1,1-2 1,4-1 89,2 2 0,2-5 0,4-2 0,5-3 197,2-2 0,3-4 0,-1-2 0,2-2 115,3-2 0,-1-3 0,4-2 0,1-4 77,-1-5 0,0-3 1,4-1-1,-4 0 70,-1-1 0,-2 1 0,-4-1 0,-2-1 223,-4-3 1,2 6 0,-6-4-57,-2-1 0,-3 1 0,-5 2 1,-4 3-224,-4 2 0,-3-1 0,-3 6-478,-5 2 0,2 1 1,-2 2-1,0 0 0,0 0-1303,0 0 1,6 0 1594,-1 0 0,-3-6 0,-1-2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5T23:19:25.196"/>
    </inkml:context>
    <inkml:brush xml:id="br0">
      <inkml:brushProperty name="height" value="0.053" units="cm"/>
      <inkml:brushProperty name="color" value="#FF0000"/>
    </inkml:brush>
  </inkml:definitions>
  <inkml:trace contextRef="#ctx0" brushRef="#br0">24616 12187 7853,'14'-7'-43,"-1"-1"1,-4-6 110,-4 0 0,-3-1 0,-2 1 0,0-1 0,0 1 173,0 0 1,0-1 0,0 1 68,0 0 1,-7 4-98,-2 0 1,-4 7-1,-1 0 1,1 6-61,3 7 0,-2 3 0,0 1 0,-4 2-117,-3 3 1,0-1 0,5 7 0,-2 4-64,-4 3 0,0 8 1,-6-3-1,2 1-110,-1 0 0,-3 1 0,-2 6 0,-2-1-67,-2 0 1,6-4 0,5-12-1,2-1-712,4-3 478,1-3 1,8-14 0,3-7 202,4-8 0,7-5 0,4-2 0,2-1 0,1-1 235,-3-2 0,1 0 0,-5 3 0,2-4 0,-5 4 0,4-4 0</inkml:trace>
  <inkml:trace contextRef="#ctx0" brushRef="#br0" timeOffset="1">24170 12431 7853,'0'10'-630,"0"0"570,0 1 1,-5-3 703,0 1 0,-4 1-320,4 4-327,0-6 364,5-1-166,0-1-60,0 2 0,0 7 16,0-1 0,6-6-149,4-3 0,-2-2 0,1 0-94,3 2 0,0 0 1,3-5-189,-1 0 1,1 0 0,-1 0-295,0 0 0,6-2 0,-1-1 574,-2-2 0,6-6 0,-1 3 0</inkml:trace>
  <inkml:trace contextRef="#ctx0" brushRef="#br0" timeOffset="2">26227 12115 7853,'14'0'-1087,"-4"0"1527,0 0 0,-6 0 268,6 0 0,-7-2 373,2-3-730,-3 4 1,-4-6 0,-3 7-183,-4 0 1,1 5 0,-2 3 0,-1 3-148,-2 5 0,-3 4 1,-2-1-1,-1 5-108,2 3 1,-6 8-1,1 2 1,-2 3-125,0 3 1,0-3 0,-5 10 0,2-2 1,3 0 1,-2-2 0,7-6-1,2-3 10,1-2 1,1-2-1,3-5 1,2-4-92,5-5 0,-1-3-18,1-2 1,2-6-1,8-5-80,4-6 1,-1-5-1,0-6 387,-1-1 0,2 1 0,-4 0 0,0-7 0,-5-2 0</inkml:trace>
  <inkml:trace contextRef="#ctx0" brushRef="#br0" timeOffset="3">25795 12719 7853,'-9'13'-7,"-1"-3"0,5 1 0,-3-5 62,2 2 0,0-5 1,2 4 165,0-1 1,-1-3 123,5 7 0,0-5-111,0 4 0,0 1 1,1 3 13,4-4 1,-2 2 0,7-6 0,1 0-26,2 1 1,1-4 0,1 3 0,-1-4-78,1-1 0,4 0 0,2 0 0,1 0-185,3 0 0,3 0 0,0 0 1,1 0-190,0 0 1,1 0 0,2-1-113,2-4 1,4 2 0,-4-7 339,-2-1 0,-2-8 0,-1-3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28440" cy="35173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65809" y="0"/>
            <a:ext cx="4028440" cy="35173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9BBF5E2F-2EA4-4BED-BDB7-3263066D10D9}" type="datetimeFigureOut">
              <a:rPr lang="en-US" smtClean="0"/>
              <a:t>10/8/25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46350" y="876300"/>
            <a:ext cx="4203700" cy="2365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9640" y="3373755"/>
            <a:ext cx="7437120" cy="2760345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58664"/>
            <a:ext cx="4028440" cy="35173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65809" y="6658664"/>
            <a:ext cx="4028440" cy="35173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061C2587-C0BF-41B9-B0FA-D76263C040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2341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4" name="Google Shape;5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" name="Google Shape;55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4344B2FB-835E-DEED-9A9A-7054E0E90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>
            <a:extLst>
              <a:ext uri="{FF2B5EF4-FFF2-40B4-BE49-F238E27FC236}">
                <a16:creationId xmlns:a16="http://schemas.microsoft.com/office/drawing/2014/main" id="{0488D696-B1FE-E4F0-1706-27A03AEF3C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>
            <a:extLst>
              <a:ext uri="{FF2B5EF4-FFF2-40B4-BE49-F238E27FC236}">
                <a16:creationId xmlns:a16="http://schemas.microsoft.com/office/drawing/2014/main" id="{20EBC2FF-3D03-1918-EAF2-421E75ED52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439524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ECC3B67D-78DC-7CEE-DB70-498C2B071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>
            <a:extLst>
              <a:ext uri="{FF2B5EF4-FFF2-40B4-BE49-F238E27FC236}">
                <a16:creationId xmlns:a16="http://schemas.microsoft.com/office/drawing/2014/main" id="{8C03AD36-FAEF-7187-DD64-55FA913919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>
            <a:extLst>
              <a:ext uri="{FF2B5EF4-FFF2-40B4-BE49-F238E27FC236}">
                <a16:creationId xmlns:a16="http://schemas.microsoft.com/office/drawing/2014/main" id="{DF53506B-2D70-92B8-689A-B1495E26C2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970832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1FDC0DD5-5678-6AC1-AD88-F9C168002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>
            <a:extLst>
              <a:ext uri="{FF2B5EF4-FFF2-40B4-BE49-F238E27FC236}">
                <a16:creationId xmlns:a16="http://schemas.microsoft.com/office/drawing/2014/main" id="{E9457525-BA2F-F623-251C-68ECE0A403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>
            <a:extLst>
              <a:ext uri="{FF2B5EF4-FFF2-40B4-BE49-F238E27FC236}">
                <a16:creationId xmlns:a16="http://schemas.microsoft.com/office/drawing/2014/main" id="{B724C867-8D9E-A010-D075-C52B4B1210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068556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733C6349-079F-42FA-0B67-D5A25A293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>
            <a:extLst>
              <a:ext uri="{FF2B5EF4-FFF2-40B4-BE49-F238E27FC236}">
                <a16:creationId xmlns:a16="http://schemas.microsoft.com/office/drawing/2014/main" id="{F50F954B-CC2A-F659-4045-2C8CC4317B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>
            <a:extLst>
              <a:ext uri="{FF2B5EF4-FFF2-40B4-BE49-F238E27FC236}">
                <a16:creationId xmlns:a16="http://schemas.microsoft.com/office/drawing/2014/main" id="{22745F22-67CA-0CDD-66CF-A680D6FCD4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207308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E12578A6-D4FC-DD90-9DE8-5421643E1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>
            <a:extLst>
              <a:ext uri="{FF2B5EF4-FFF2-40B4-BE49-F238E27FC236}">
                <a16:creationId xmlns:a16="http://schemas.microsoft.com/office/drawing/2014/main" id="{9E6F32FF-AE43-D08D-8092-922BCD1D60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0" name="Google Shape;70;p3:notes">
            <a:extLst>
              <a:ext uri="{FF2B5EF4-FFF2-40B4-BE49-F238E27FC236}">
                <a16:creationId xmlns:a16="http://schemas.microsoft.com/office/drawing/2014/main" id="{E64F1AE4-9683-7119-3D35-D896EC3005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33005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87E7C8BC-CE3A-F114-5AA1-4D446C138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>
            <a:extLst>
              <a:ext uri="{FF2B5EF4-FFF2-40B4-BE49-F238E27FC236}">
                <a16:creationId xmlns:a16="http://schemas.microsoft.com/office/drawing/2014/main" id="{83105782-CD02-D7B1-07AE-C0E6D9DC9B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>
            <a:extLst>
              <a:ext uri="{FF2B5EF4-FFF2-40B4-BE49-F238E27FC236}">
                <a16:creationId xmlns:a16="http://schemas.microsoft.com/office/drawing/2014/main" id="{953EB0E7-1885-14FE-E52A-8D2701EB16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147218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9BBCD4A1-208A-0D4C-3840-DEF9039C5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>
            <a:extLst>
              <a:ext uri="{FF2B5EF4-FFF2-40B4-BE49-F238E27FC236}">
                <a16:creationId xmlns:a16="http://schemas.microsoft.com/office/drawing/2014/main" id="{D871908E-20A2-A236-5C0C-5B60F51F8B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>
            <a:extLst>
              <a:ext uri="{FF2B5EF4-FFF2-40B4-BE49-F238E27FC236}">
                <a16:creationId xmlns:a16="http://schemas.microsoft.com/office/drawing/2014/main" id="{BE3B2BAD-E664-C98B-D7AE-F3FB9B49A6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38480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082317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A2C93729-D743-A273-83AA-C7F3EE587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>
            <a:extLst>
              <a:ext uri="{FF2B5EF4-FFF2-40B4-BE49-F238E27FC236}">
                <a16:creationId xmlns:a16="http://schemas.microsoft.com/office/drawing/2014/main" id="{61CC8744-25E8-254B-7AC8-5533A371D4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>
            <a:extLst>
              <a:ext uri="{FF2B5EF4-FFF2-40B4-BE49-F238E27FC236}">
                <a16:creationId xmlns:a16="http://schemas.microsoft.com/office/drawing/2014/main" id="{F90082C8-88E4-4CB8-50F8-4EF31962AE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103041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57646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FEBCAF42-3FE7-E961-D7BE-8391E0F8F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>
            <a:extLst>
              <a:ext uri="{FF2B5EF4-FFF2-40B4-BE49-F238E27FC236}">
                <a16:creationId xmlns:a16="http://schemas.microsoft.com/office/drawing/2014/main" id="{0562E68A-9BC5-F0BA-1B67-986B2B9B5F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>
            <a:extLst>
              <a:ext uri="{FF2B5EF4-FFF2-40B4-BE49-F238E27FC236}">
                <a16:creationId xmlns:a16="http://schemas.microsoft.com/office/drawing/2014/main" id="{AA542072-671B-447F-8C34-0CCB7C8920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147275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816984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BC037-32FA-4360-ABE3-07627B2BC3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05A9D-A4AF-4C69-803F-B3FD8FE7AA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6362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15EC7-C509-45E9-A595-C7C08F504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099" y="367131"/>
            <a:ext cx="10515600" cy="62781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61D1F-B34A-4BF8-908F-7A23699398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1113178"/>
            <a:ext cx="10515600" cy="2039539"/>
          </a:xfrm>
          <a:prstGeom prst="rect">
            <a:avLst/>
          </a:prstGeo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 marL="230188" indent="-230188">
              <a:buFont typeface="Wingdings" panose="05000000000000000000" pitchFamily="2" charset="2"/>
              <a:buChar char="§"/>
              <a:defRPr/>
            </a:lvl2pPr>
            <a:lvl3pPr marL="460375" indent="-230188">
              <a:buFont typeface="Wingdings" panose="05000000000000000000" pitchFamily="2" charset="2"/>
              <a:buChar char="§"/>
              <a:defRPr/>
            </a:lvl3pPr>
            <a:lvl4pPr marL="684213" indent="-223838">
              <a:buFont typeface="Wingdings" panose="05000000000000000000" pitchFamily="2" charset="2"/>
              <a:buChar char="§"/>
              <a:defRPr/>
            </a:lvl4pPr>
            <a:lvl5pPr marL="914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6F6A89D-691A-4F7C-98F1-F0C593DCAC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96837" y="6362388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4E5DC575-B3DA-4894-AC1D-D96F1860F14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755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8BDF3-C675-4FE4-A910-AC4D96386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1E326A-32E2-4FAA-B286-2C7318FA99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D807-F2AA-4847-A712-DB46B5082E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10/8/25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18B119-C720-495E-B60C-22CBB6586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E2A286-1540-4D00-A534-703021A3B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834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5E853-5CAF-42AD-AB47-7F5A49B7B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0D8E34-F3E7-4F97-A3DF-30EEE989C0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8AB9D5-42F1-4DA5-90B3-823D47216A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876C05-7108-4656-9F43-674919BEE9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10/8/25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57A914-9DAA-4AE9-A76A-42447258A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C0452A-1F51-42B5-8497-BB68481ED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013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8A46B-388C-4D77-BE61-52E7B1C9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6ECDA0-3BD6-450B-8B96-C3684DC875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D6CCF2-765D-4D39-83E7-42743CE9E7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ECD599-93B8-46A3-9EF0-230980A89B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D0E1B5-5F66-4EE8-9EE1-86A03BA8AD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4E6235-3EAC-4DFF-9A14-1ADA715CC2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10/8/25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32BF57-DA9A-4492-A076-AB71F5BE9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B5FCD9-5D4E-4E57-9402-7599F9885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636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00DDE-4BCF-4525-91BE-72A54FC8C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F6FE61-20C8-49B5-BF10-C0DCB24C67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10/8/25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D4D872-320C-4D19-B900-0E59609A4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0B071D-2650-40F5-8B1E-46DF9DB8D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7177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747EB5-7CA0-4A83-9D1B-19C1436051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10/8/25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2C3624-E3A1-4C8A-95B8-43FE56CEE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65764B-81AF-4873-8E85-B90AF3207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124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F3DD2-9E90-4EBF-9B07-2194BDC33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8BFE9-2F23-4BCD-B60A-0983EBBCEB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95FE31-2336-4B0E-BC8F-3572FA6EC2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DFD6EC-511A-455D-8BD9-982DE4390A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10/8/25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7B1AA-215E-4D2A-873E-12B2C9104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5E25FC-1B80-4F9E-AB2D-C76EBB645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763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39F35-1611-42F7-A008-1247A6AC1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268273-8ED8-4A31-9442-466BDD24B8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6F42B4-A61A-4FDA-B0DC-F40834BD8E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D9FEBD-503F-464B-B22C-555050B32A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10/8/25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AC58AB-1586-418B-A030-C9B1CABED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CF43F4-342D-4F33-99B8-27ACFF6C0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8046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4AEEE-3587-4C7D-BAA3-0C3E401F3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8654F2-609F-41BE-BF94-9566C0BCC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FEAD64-81FE-45C7-87BE-C99041D876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10/8/25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C9082A-2241-44ED-B9AD-9750B21A6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10290-45AC-4A7C-9A77-667E4B9CF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6742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5DDBF4-DC75-4000-B4CD-4560FF8BCA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38E350-8C93-428E-9B85-FE7F21988F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B2166D-1728-4813-9139-87CA01351A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10/8/25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F9C6B2-CD29-4F7A-8C8F-E7523A74F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4A101A-1A5F-4B8A-B35C-38FD5CC03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88036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1_Title Slid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B0027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2" name="Google Shape;22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946400" y="1193800"/>
            <a:ext cx="4572000" cy="408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2" descr="_Plaid-Digital_FINAL-NEW.png"/>
          <p:cNvPicPr preferRelativeResize="0"/>
          <p:nvPr/>
        </p:nvPicPr>
        <p:blipFill rotWithShape="1">
          <a:blip r:embed="rId3">
            <a:alphaModFix/>
          </a:blip>
          <a:srcRect l="84737" t="23988" r="4770" b="1989"/>
          <a:stretch/>
        </p:blipFill>
        <p:spPr>
          <a:xfrm>
            <a:off x="609601" y="0"/>
            <a:ext cx="10541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B0027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5" name="Google Shape;25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946400" y="1193800"/>
            <a:ext cx="4572000" cy="408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2" descr="_Plaid-Digital_FINAL-NEW.png"/>
          <p:cNvPicPr preferRelativeResize="0"/>
          <p:nvPr/>
        </p:nvPicPr>
        <p:blipFill rotWithShape="1">
          <a:blip r:embed="rId3">
            <a:alphaModFix/>
          </a:blip>
          <a:srcRect l="84737" t="23988" r="4770" b="1989"/>
          <a:stretch/>
        </p:blipFill>
        <p:spPr>
          <a:xfrm>
            <a:off x="609601" y="0"/>
            <a:ext cx="10541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862145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">
  <p:cSld name="Content Slid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12"/>
          <p:cNvCxnSpPr/>
          <p:nvPr/>
        </p:nvCxnSpPr>
        <p:spPr>
          <a:xfrm>
            <a:off x="1246063" y="1554511"/>
            <a:ext cx="9177403" cy="0"/>
          </a:xfrm>
          <a:prstGeom prst="straightConnector1">
            <a:avLst/>
          </a:prstGeom>
          <a:noFill/>
          <a:ln w="12700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7" name="Google Shape;27;p12"/>
          <p:cNvSpPr txBox="1">
            <a:spLocks noGrp="1"/>
          </p:cNvSpPr>
          <p:nvPr>
            <p:ph type="body" idx="1"/>
          </p:nvPr>
        </p:nvSpPr>
        <p:spPr>
          <a:xfrm>
            <a:off x="1246063" y="710027"/>
            <a:ext cx="5883275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3600"/>
              <a:buNone/>
              <a:defRPr sz="3600">
                <a:solidFill>
                  <a:srgbClr val="5D5D5D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2"/>
          <p:cNvSpPr txBox="1">
            <a:spLocks noGrp="1"/>
          </p:cNvSpPr>
          <p:nvPr>
            <p:ph type="body" idx="2"/>
          </p:nvPr>
        </p:nvSpPr>
        <p:spPr>
          <a:xfrm>
            <a:off x="1246063" y="2298984"/>
            <a:ext cx="9177403" cy="300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000"/>
              <a:buNone/>
              <a:defRPr>
                <a:solidFill>
                  <a:srgbClr val="5D5D5D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2"/>
          <p:cNvSpPr txBox="1">
            <a:spLocks noGrp="1"/>
          </p:cNvSpPr>
          <p:nvPr>
            <p:ph type="body" idx="3"/>
          </p:nvPr>
        </p:nvSpPr>
        <p:spPr>
          <a:xfrm>
            <a:off x="1246064" y="1752884"/>
            <a:ext cx="9177402" cy="400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000"/>
              <a:buNone/>
              <a:defRPr b="1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30" name="Google Shape;30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5842000"/>
            <a:ext cx="12192000" cy="1016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701032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o Sum Up Slide">
  <p:cSld name="To Sum Up Slide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" name="Google Shape;47;p16"/>
          <p:cNvCxnSpPr/>
          <p:nvPr/>
        </p:nvCxnSpPr>
        <p:spPr>
          <a:xfrm>
            <a:off x="1246063" y="1534636"/>
            <a:ext cx="9177403" cy="0"/>
          </a:xfrm>
          <a:prstGeom prst="straightConnector1">
            <a:avLst/>
          </a:prstGeom>
          <a:noFill/>
          <a:ln w="12700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8" name="Google Shape;48;p16"/>
          <p:cNvSpPr txBox="1">
            <a:spLocks noGrp="1"/>
          </p:cNvSpPr>
          <p:nvPr>
            <p:ph type="body" idx="1"/>
          </p:nvPr>
        </p:nvSpPr>
        <p:spPr>
          <a:xfrm>
            <a:off x="1246063" y="690152"/>
            <a:ext cx="5883275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3600"/>
              <a:buNone/>
              <a:defRPr sz="3600">
                <a:solidFill>
                  <a:srgbClr val="5D5D5D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16"/>
          <p:cNvSpPr txBox="1">
            <a:spLocks noGrp="1"/>
          </p:cNvSpPr>
          <p:nvPr>
            <p:ph type="body" idx="2"/>
          </p:nvPr>
        </p:nvSpPr>
        <p:spPr>
          <a:xfrm>
            <a:off x="1246063" y="2155607"/>
            <a:ext cx="9177402" cy="3067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000"/>
              <a:buNone/>
              <a:defRPr>
                <a:solidFill>
                  <a:srgbClr val="5D5D5D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6"/>
          <p:cNvSpPr txBox="1">
            <a:spLocks noGrp="1"/>
          </p:cNvSpPr>
          <p:nvPr>
            <p:ph type="body" idx="3"/>
          </p:nvPr>
        </p:nvSpPr>
        <p:spPr>
          <a:xfrm>
            <a:off x="1246063" y="1634645"/>
            <a:ext cx="9177402" cy="400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000"/>
              <a:buNone/>
              <a:defRPr b="1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51" name="Google Shape;51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5842000"/>
            <a:ext cx="12192000" cy="1016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677252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 b="1" i="0">
                <a:solidFill>
                  <a:schemeClr val="bg2">
                    <a:lumMod val="10000"/>
                  </a:schemeClr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7663" indent="-347663">
              <a:buClr>
                <a:srgbClr val="333399"/>
              </a:buClr>
              <a:buSzPct val="60000"/>
              <a:buFont typeface="Wingdings" pitchFamily="2" charset="2"/>
              <a:buChar char="q"/>
              <a:tabLst/>
              <a:defRPr sz="2400" b="0" i="0">
                <a:latin typeface="Helvetica Light" charset="0"/>
                <a:ea typeface="Helvetica Light" charset="0"/>
                <a:cs typeface="Helvetica Light" charset="0"/>
              </a:defRPr>
            </a:lvl1pPr>
            <a:lvl2pPr marL="573088" indent="-338138">
              <a:buClr>
                <a:srgbClr val="333399"/>
              </a:buClr>
              <a:buSzPct val="60000"/>
              <a:buFont typeface="Wingdings" pitchFamily="2" charset="2"/>
              <a:buChar char="q"/>
              <a:tabLst/>
              <a:defRPr sz="2200" b="0" i="0">
                <a:latin typeface="Helvetica Light" charset="0"/>
                <a:ea typeface="Helvetica Light" charset="0"/>
                <a:cs typeface="Helvetica Light" charset="0"/>
              </a:defRPr>
            </a:lvl2pPr>
            <a:lvl3pPr marL="808038" indent="-347663">
              <a:buClr>
                <a:srgbClr val="333399"/>
              </a:buClr>
              <a:buSzPct val="60000"/>
              <a:buFont typeface="Wingdings" pitchFamily="2" charset="2"/>
              <a:buChar char="q"/>
              <a:tabLst/>
              <a:defRPr sz="2000" b="0" i="0">
                <a:latin typeface="Helvetica Light" charset="0"/>
                <a:ea typeface="Helvetica Light" charset="0"/>
                <a:cs typeface="Helvetica Light" charset="0"/>
              </a:defRPr>
            </a:lvl3pPr>
            <a:lvl4pPr marL="1033463" indent="-338138">
              <a:buClr>
                <a:srgbClr val="333399"/>
              </a:buClr>
              <a:buSzPct val="60000"/>
              <a:buFont typeface="Wingdings" pitchFamily="2" charset="2"/>
              <a:buChar char="q"/>
              <a:tabLst/>
              <a:defRPr sz="1800" b="0" i="0">
                <a:latin typeface="Helvetica Light" charset="0"/>
                <a:ea typeface="Helvetica Light" charset="0"/>
                <a:cs typeface="Helvetica Light" charset="0"/>
              </a:defRPr>
            </a:lvl4pPr>
            <a:lvl5pPr marL="1257300" indent="-336550">
              <a:buClr>
                <a:srgbClr val="333399"/>
              </a:buClr>
              <a:buSzPct val="60000"/>
              <a:buFont typeface="Wingdings" pitchFamily="2" charset="2"/>
              <a:buChar char="q"/>
              <a:tabLst/>
              <a:defRPr sz="1600" b="0" i="0">
                <a:latin typeface="Helvetica Light" charset="0"/>
                <a:ea typeface="Helvetica Light" charset="0"/>
                <a:cs typeface="Helvetica Light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511102"/>
            <a:ext cx="2743200" cy="365125"/>
          </a:xfrm>
          <a:prstGeom prst="rect">
            <a:avLst/>
          </a:prstGeom>
        </p:spPr>
        <p:txBody>
          <a:bodyPr/>
          <a:lstStyle/>
          <a:p>
            <a:fld id="{2C67917F-4FD1-6343-8E0A-AA326AC34726}" type="datetime1">
              <a:rPr lang="en-US" smtClean="0"/>
              <a:t>10/8/25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057763" y="6511102"/>
            <a:ext cx="1920240" cy="365125"/>
          </a:xfrm>
          <a:prstGeom prst="rect">
            <a:avLst/>
          </a:prstGeo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© Eric Xing @ CMU, 2020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33968" y="6511102"/>
            <a:ext cx="460513" cy="365125"/>
          </a:xfrm>
          <a:prstGeom prst="rect">
            <a:avLst/>
          </a:prstGeom>
        </p:spPr>
        <p:txBody>
          <a:bodyPr/>
          <a:lstStyle/>
          <a:p>
            <a:fld id="{07AEA02C-82F2-584F-9D59-3DE262609F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901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2"/>
            <a:ext cx="10515600" cy="2458277"/>
          </a:xfrm>
        </p:spPr>
        <p:txBody>
          <a:bodyPr anchor="b"/>
          <a:lstStyle>
            <a:lvl1pPr>
              <a:defRPr sz="3375" b="0" i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168019"/>
            <a:ext cx="10515600" cy="1921635"/>
          </a:xfrm>
        </p:spPr>
        <p:txBody>
          <a:bodyPr/>
          <a:lstStyle>
            <a:lvl1pPr marL="0" indent="0">
              <a:buNone/>
              <a:defRPr sz="1350" b="0" i="0">
                <a:solidFill>
                  <a:schemeClr val="accent2">
                    <a:lumMod val="20000"/>
                    <a:lumOff val="80000"/>
                  </a:schemeClr>
                </a:solidFill>
                <a:latin typeface="Helvetica Light" charset="0"/>
                <a:ea typeface="Helvetica Light" charset="0"/>
                <a:cs typeface="Helvetica Light" charset="0"/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60722E28-9863-CF46-B40D-866DA57BC3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1110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072279-7CD6-554A-9D50-4D674DC0A838}" type="datetime1">
              <a:rPr lang="en-US" smtClean="0"/>
              <a:t>10/8/25</a:t>
            </a:fld>
            <a:endParaRPr lang="en-US" dirty="0"/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8D23BE37-A135-8C47-B04C-CBC1DDC81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057763" y="6511102"/>
            <a:ext cx="1920240" cy="365125"/>
          </a:xfrm>
          <a:prstGeom prst="rect">
            <a:avLst/>
          </a:prstGeom>
        </p:spPr>
        <p:txBody>
          <a:bodyPr/>
          <a:lstStyle>
            <a:lvl1pPr>
              <a:defRPr sz="600">
                <a:solidFill>
                  <a:schemeClr val="bg1"/>
                </a:solidFill>
              </a:defRPr>
            </a:lvl1pPr>
          </a:lstStyle>
          <a:p>
            <a:r>
              <a:rPr lang="en-US"/>
              <a:t>© Eric Xing @ CMU, 2020</a:t>
            </a:r>
            <a:endParaRPr lang="en-US" altLang="en-US" dirty="0"/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18CFA924-49FF-C542-A2BC-A34E05797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33968" y="6511102"/>
            <a:ext cx="460513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7AEA02C-82F2-584F-9D59-3DE262609F6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23B355-DD42-6746-A1C7-2E00DDC140C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2599" y="237655"/>
            <a:ext cx="4010568" cy="641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7122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3198"/>
            <a:ext cx="12192000" cy="3733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780829"/>
            <a:ext cx="10515600" cy="2852737"/>
          </a:xfrm>
        </p:spPr>
        <p:txBody>
          <a:bodyPr anchor="b">
            <a:normAutofit/>
          </a:bodyPr>
          <a:lstStyle>
            <a:lvl1pPr>
              <a:defRPr sz="4000" b="1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3747638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E4323C4-CA66-5A47-8F97-41BA42804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057763" y="6511102"/>
            <a:ext cx="1920240" cy="365125"/>
          </a:xfrm>
          <a:prstGeom prst="rect">
            <a:avLst/>
          </a:prstGeo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© Eric Xing @ CMU, 2020</a:t>
            </a:r>
            <a:endParaRPr lang="en-US" alt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9E1BA8F-BF47-3D40-8C6E-FA5B75DEE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33968" y="6511102"/>
            <a:ext cx="460513" cy="365125"/>
          </a:xfrm>
          <a:prstGeom prst="rect">
            <a:avLst/>
          </a:prstGeom>
        </p:spPr>
        <p:txBody>
          <a:bodyPr/>
          <a:lstStyle/>
          <a:p>
            <a:fld id="{07AEA02C-82F2-584F-9D59-3DE262609F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9765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 b="1" i="0">
                <a:solidFill>
                  <a:schemeClr val="bg2">
                    <a:lumMod val="10000"/>
                  </a:schemeClr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799121"/>
            <a:ext cx="5181600" cy="4351338"/>
          </a:xfrm>
        </p:spPr>
        <p:txBody>
          <a:bodyPr/>
          <a:lstStyle>
            <a:lvl1pPr marL="292100" indent="-292100">
              <a:buClr>
                <a:srgbClr val="333399"/>
              </a:buClr>
              <a:buSzPct val="60000"/>
              <a:buFont typeface="Wingdings" pitchFamily="2" charset="2"/>
              <a:buChar char="q"/>
              <a:tabLst/>
              <a:defRPr sz="2200" b="0" i="0">
                <a:latin typeface="Helvetica Light" charset="0"/>
                <a:ea typeface="Helvetica Light" charset="0"/>
                <a:cs typeface="Helvetica Light" charset="0"/>
              </a:defRPr>
            </a:lvl1pPr>
            <a:lvl2pPr marL="515938" indent="-258763">
              <a:buClr>
                <a:srgbClr val="333399"/>
              </a:buClr>
              <a:buSzPct val="60000"/>
              <a:buFont typeface="Wingdings" pitchFamily="2" charset="2"/>
              <a:buChar char="q"/>
              <a:tabLst/>
              <a:defRPr sz="2000" b="0" i="0">
                <a:latin typeface="Helvetica Light" charset="0"/>
                <a:ea typeface="Helvetica Light" charset="0"/>
                <a:cs typeface="Helvetica Light" charset="0"/>
              </a:defRPr>
            </a:lvl2pPr>
            <a:lvl3pPr marL="752475" indent="-292100">
              <a:buClr>
                <a:srgbClr val="333399"/>
              </a:buClr>
              <a:buSzPct val="60000"/>
              <a:buFont typeface="Wingdings" pitchFamily="2" charset="2"/>
              <a:buChar char="q"/>
              <a:tabLst/>
              <a:defRPr sz="1800" b="0" i="0">
                <a:latin typeface="Helvetica Light" charset="0"/>
                <a:ea typeface="Helvetica Light" charset="0"/>
                <a:cs typeface="Helvetica Light" charset="0"/>
              </a:defRPr>
            </a:lvl3pPr>
            <a:lvl4pPr marL="976313" indent="-280988">
              <a:buClr>
                <a:srgbClr val="333399"/>
              </a:buClr>
              <a:buSzPct val="60000"/>
              <a:buFont typeface="Wingdings" pitchFamily="2" charset="2"/>
              <a:buChar char="q"/>
              <a:tabLst/>
              <a:defRPr sz="1600" b="0" i="0">
                <a:latin typeface="Helvetica Light" charset="0"/>
                <a:ea typeface="Helvetica Light" charset="0"/>
                <a:cs typeface="Helvetica Light" charset="0"/>
              </a:defRPr>
            </a:lvl4pPr>
            <a:lvl5pPr marL="1201738" indent="-280988">
              <a:buClr>
                <a:srgbClr val="333399"/>
              </a:buClr>
              <a:buSzPct val="60000"/>
              <a:buFont typeface="Wingdings" pitchFamily="2" charset="2"/>
              <a:buChar char="q"/>
              <a:tabLst/>
              <a:defRPr sz="1400" b="0" i="0">
                <a:latin typeface="Helvetica Light" charset="0"/>
                <a:ea typeface="Helvetica Light" charset="0"/>
                <a:cs typeface="Helvetica Light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FBB48C27-BE7C-3941-B9F3-A4D4717F28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11102"/>
            <a:ext cx="2743200" cy="365125"/>
          </a:xfrm>
          <a:prstGeom prst="rect">
            <a:avLst/>
          </a:prstGeom>
        </p:spPr>
        <p:txBody>
          <a:bodyPr/>
          <a:lstStyle/>
          <a:p>
            <a:fld id="{C575DE39-BF7C-424B-9C07-2BEBD6B14FD3}" type="datetime1">
              <a:rPr lang="en-US" smtClean="0"/>
              <a:t>10/8/25</a:t>
            </a:fld>
            <a:endParaRPr lang="en-US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6DC4629-3C8A-F646-AC38-BB37FB931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057763" y="6511102"/>
            <a:ext cx="1920240" cy="365125"/>
          </a:xfrm>
          <a:prstGeom prst="rect">
            <a:avLst/>
          </a:prstGeo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© Eric Xing @ CMU, 2020</a:t>
            </a:r>
            <a:endParaRPr lang="en-US" alt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9BFB6B21-4106-4949-915C-692B2CB0D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33968" y="6511102"/>
            <a:ext cx="460513" cy="365125"/>
          </a:xfrm>
          <a:prstGeom prst="rect">
            <a:avLst/>
          </a:prstGeom>
        </p:spPr>
        <p:txBody>
          <a:bodyPr/>
          <a:lstStyle/>
          <a:p>
            <a:fld id="{07AEA02C-82F2-584F-9D59-3DE262609F65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3A347B1B-EA3D-8B43-B7D0-731D2330F231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32556" y="1799121"/>
            <a:ext cx="5181600" cy="4351338"/>
          </a:xfrm>
        </p:spPr>
        <p:txBody>
          <a:bodyPr/>
          <a:lstStyle>
            <a:lvl1pPr marL="292100" indent="-292100">
              <a:buClr>
                <a:srgbClr val="333399"/>
              </a:buClr>
              <a:buSzPct val="60000"/>
              <a:buFont typeface="Wingdings" pitchFamily="2" charset="2"/>
              <a:buChar char="q"/>
              <a:tabLst/>
              <a:defRPr sz="2200" b="0" i="0">
                <a:latin typeface="Helvetica Light" charset="0"/>
                <a:ea typeface="Helvetica Light" charset="0"/>
                <a:cs typeface="Helvetica Light" charset="0"/>
              </a:defRPr>
            </a:lvl1pPr>
            <a:lvl2pPr marL="515938" indent="-258763">
              <a:buClr>
                <a:srgbClr val="333399"/>
              </a:buClr>
              <a:buSzPct val="60000"/>
              <a:buFont typeface="Wingdings" pitchFamily="2" charset="2"/>
              <a:buChar char="q"/>
              <a:tabLst/>
              <a:defRPr sz="2000" b="0" i="0">
                <a:latin typeface="Helvetica Light" charset="0"/>
                <a:ea typeface="Helvetica Light" charset="0"/>
                <a:cs typeface="Helvetica Light" charset="0"/>
              </a:defRPr>
            </a:lvl2pPr>
            <a:lvl3pPr marL="752475" indent="-292100">
              <a:buClr>
                <a:srgbClr val="333399"/>
              </a:buClr>
              <a:buSzPct val="60000"/>
              <a:buFont typeface="Wingdings" pitchFamily="2" charset="2"/>
              <a:buChar char="q"/>
              <a:tabLst/>
              <a:defRPr sz="1800" b="0" i="0">
                <a:latin typeface="Helvetica Light" charset="0"/>
                <a:ea typeface="Helvetica Light" charset="0"/>
                <a:cs typeface="Helvetica Light" charset="0"/>
              </a:defRPr>
            </a:lvl3pPr>
            <a:lvl4pPr marL="976313" indent="-280988">
              <a:buClr>
                <a:srgbClr val="333399"/>
              </a:buClr>
              <a:buSzPct val="60000"/>
              <a:buFont typeface="Wingdings" pitchFamily="2" charset="2"/>
              <a:buChar char="q"/>
              <a:tabLst/>
              <a:defRPr sz="1600" b="0" i="0">
                <a:latin typeface="Helvetica Light" charset="0"/>
                <a:ea typeface="Helvetica Light" charset="0"/>
                <a:cs typeface="Helvetica Light" charset="0"/>
              </a:defRPr>
            </a:lvl4pPr>
            <a:lvl5pPr marL="1201738" indent="-280988">
              <a:buClr>
                <a:srgbClr val="333399"/>
              </a:buClr>
              <a:buSzPct val="60000"/>
              <a:buFont typeface="Wingdings" pitchFamily="2" charset="2"/>
              <a:buChar char="q"/>
              <a:tabLst/>
              <a:defRPr sz="1400" b="0" i="0">
                <a:latin typeface="Helvetica Light" charset="0"/>
                <a:ea typeface="Helvetica Light" charset="0"/>
                <a:cs typeface="Helvetica Light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973788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 b="1" i="0">
                <a:solidFill>
                  <a:schemeClr val="bg2">
                    <a:lumMod val="10000"/>
                  </a:schemeClr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981CC02-03B9-F845-A7C8-75962F088E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11102"/>
            <a:ext cx="2743200" cy="365125"/>
          </a:xfrm>
          <a:prstGeom prst="rect">
            <a:avLst/>
          </a:prstGeom>
        </p:spPr>
        <p:txBody>
          <a:bodyPr/>
          <a:lstStyle/>
          <a:p>
            <a:fld id="{900FB383-97E7-7C49-AB9C-B3960A79F295}" type="datetime1">
              <a:rPr lang="en-US" smtClean="0"/>
              <a:t>10/8/25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B8254E7-58C0-5848-8656-E333BB433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057763" y="6511102"/>
            <a:ext cx="1920240" cy="365125"/>
          </a:xfrm>
          <a:prstGeom prst="rect">
            <a:avLst/>
          </a:prstGeo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© Eric Xing @ CMU, 2020</a:t>
            </a:r>
            <a:endParaRPr lang="en-US" alt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B67E93DA-951F-E14B-8EBF-D39937295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33968" y="6511102"/>
            <a:ext cx="460513" cy="365125"/>
          </a:xfrm>
          <a:prstGeom prst="rect">
            <a:avLst/>
          </a:prstGeom>
        </p:spPr>
        <p:txBody>
          <a:bodyPr/>
          <a:lstStyle/>
          <a:p>
            <a:fld id="{07AEA02C-82F2-584F-9D59-3DE262609F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229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4116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4116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79DBDCD-2182-9C47-B3E6-E8D663A0985C}" type="datetime1">
              <a:rPr lang="en-US" altLang="en-US" smtClean="0"/>
              <a:t>10/8/25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© Eric Xing @ CMU, 2020</a:t>
            </a: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316BF4-0C06-46C4-8F64-4CF8DA863C5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09685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849BF68-1E1C-0843-AA6F-2F27172575CF}" type="datetime1">
              <a:rPr lang="en-US" altLang="en-US" smtClean="0"/>
              <a:t>10/8/25</a:t>
            </a:fld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© Eric Xing @ CMU, 2020</a:t>
            </a: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70ADC6-CE19-4300-8EBE-7AC2ADD77F1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5527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Relationship Id="rId9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823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80" r:id="rId12"/>
    <p:sldLayoutId id="2147483681" r:id="rId13"/>
    <p:sldLayoutId id="214748368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569844"/>
            <a:ext cx="10515600" cy="8425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9912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128588" marR="0" lvl="0" indent="-128588" algn="l" defTabSz="514350" rtl="0" eaLnBrk="1" fontAlgn="auto" latinLnBrk="0" hangingPunct="1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575" b="0" i="0" u="none" strike="noStrike" kern="1200" cap="none" spc="0" normalizeH="0" baseline="0" noProof="0" dirty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Helvetica Light" charset="0"/>
              </a:rPr>
              <a:t>Click to edit Master text styles</a:t>
            </a:r>
          </a:p>
          <a:p>
            <a:pPr marL="385763" marR="0" lvl="1" indent="-128588" algn="l" defTabSz="514350" rtl="0" eaLnBrk="1" fontAlgn="auto" latinLnBrk="0" hangingPunct="1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Helvetica Light" charset="0"/>
              </a:rPr>
              <a:t>Second level</a:t>
            </a:r>
          </a:p>
          <a:p>
            <a:pPr marL="642938" marR="0" lvl="2" indent="-128588" algn="l" defTabSz="514350" rtl="0" eaLnBrk="1" fontAlgn="auto" latinLnBrk="0" hangingPunct="1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125" b="0" i="0" u="none" strike="noStrike" kern="1200" cap="none" spc="0" normalizeH="0" baseline="0" noProof="0" dirty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Helvetica Light" charset="0"/>
              </a:rPr>
              <a:t>Third level</a:t>
            </a:r>
          </a:p>
          <a:p>
            <a:pPr marL="900113" marR="0" lvl="3" indent="-128588" algn="l" defTabSz="514350" rtl="0" eaLnBrk="1" fontAlgn="auto" latinLnBrk="0" hangingPunct="1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013" b="0" i="0" u="none" strike="noStrike" kern="1200" cap="none" spc="0" normalizeH="0" baseline="0" noProof="0" dirty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Helvetica Light" charset="0"/>
              </a:rPr>
              <a:t>Fourth level</a:t>
            </a:r>
          </a:p>
          <a:p>
            <a:pPr marL="1157288" marR="0" lvl="4" indent="-128588" algn="l" defTabSz="514350" rtl="0" eaLnBrk="1" fontAlgn="auto" latinLnBrk="0" hangingPunct="1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013" b="0" i="0" u="none" strike="noStrike" kern="1200" cap="none" spc="0" normalizeH="0" baseline="0" noProof="0" dirty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Helvetica Light" charset="0"/>
              </a:rPr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BEADCA7-E14F-3A40-B9BC-E99249895F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1110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600"/>
            </a:lvl1pPr>
          </a:lstStyle>
          <a:p>
            <a:fld id="{262B01DA-9C3D-CD4A-9C3A-E4F6BC3CFDA8}" type="datetime1">
              <a:rPr lang="en-US" smtClean="0"/>
              <a:t>10/8/25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F190F6E-D1A6-9F4B-B82C-CD258D2922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057763" y="6511102"/>
            <a:ext cx="1920240" cy="365125"/>
          </a:xfrm>
          <a:prstGeom prst="rect">
            <a:avLst/>
          </a:prstGeom>
        </p:spPr>
        <p:txBody>
          <a:bodyPr/>
          <a:lstStyle>
            <a:lvl1pPr algn="r">
              <a:defRPr sz="600"/>
            </a:lvl1pPr>
          </a:lstStyle>
          <a:p>
            <a:r>
              <a:rPr lang="en-US"/>
              <a:t>© Eric Xing @ CMU, 2020</a:t>
            </a:r>
            <a:endParaRPr lang="en-US" alt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422AA21-D776-0946-9438-9F610A271E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33968" y="6511102"/>
            <a:ext cx="460513" cy="365125"/>
          </a:xfrm>
          <a:prstGeom prst="rect">
            <a:avLst/>
          </a:prstGeom>
        </p:spPr>
        <p:txBody>
          <a:bodyPr/>
          <a:lstStyle>
            <a:lvl1pPr>
              <a:defRPr sz="600"/>
            </a:lvl1pPr>
          </a:lstStyle>
          <a:p>
            <a:fld id="{07AEA02C-82F2-584F-9D59-3DE262609F6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BEF7A53-B314-164E-B3BE-2F5BA495F68A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1684668" y="6347803"/>
            <a:ext cx="431800" cy="44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557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hf hdr="0" dt="0"/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b="0" kern="1200">
          <a:solidFill>
            <a:schemeClr val="tx1"/>
          </a:solidFill>
          <a:latin typeface="Helvetica" charset="0"/>
          <a:ea typeface="Helvetica" charset="0"/>
          <a:cs typeface="Helvetica" charset="0"/>
        </a:defRPr>
      </a:lvl1pPr>
    </p:titleStyle>
    <p:bodyStyle>
      <a:lvl1pPr marL="128588" marR="0" indent="-128588" algn="l" defTabSz="514350" rtl="0" eaLnBrk="1" fontAlgn="auto" latinLnBrk="0" hangingPunct="1">
        <a:lnSpc>
          <a:spcPct val="90000"/>
        </a:lnSpc>
        <a:spcBef>
          <a:spcPts val="563"/>
        </a:spcBef>
        <a:spcAft>
          <a:spcPts val="0"/>
        </a:spcAft>
        <a:buClrTx/>
        <a:buSzTx/>
        <a:buFont typeface="Arial"/>
        <a:buChar char="•"/>
        <a:tabLst/>
        <a:defRPr sz="1575" b="0" i="0" kern="1200">
          <a:solidFill>
            <a:schemeClr val="tx1"/>
          </a:solidFill>
          <a:latin typeface="Helvetica Light" charset="0"/>
          <a:ea typeface="Helvetica Light" charset="0"/>
          <a:cs typeface="Helvetica Light" charset="0"/>
        </a:defRPr>
      </a:lvl1pPr>
      <a:lvl2pPr marL="385763" marR="0" indent="-128588" algn="l" defTabSz="514350" rtl="0" eaLnBrk="1" fontAlgn="auto" latinLnBrk="0" hangingPunct="1">
        <a:lnSpc>
          <a:spcPct val="90000"/>
        </a:lnSpc>
        <a:spcBef>
          <a:spcPts val="281"/>
        </a:spcBef>
        <a:spcAft>
          <a:spcPts val="0"/>
        </a:spcAft>
        <a:buClrTx/>
        <a:buSzTx/>
        <a:buFont typeface="Arial"/>
        <a:buChar char="•"/>
        <a:tabLst/>
        <a:defRPr sz="1350" b="0" i="0" kern="1200">
          <a:solidFill>
            <a:schemeClr val="tx1"/>
          </a:solidFill>
          <a:latin typeface="Helvetica Light" charset="0"/>
          <a:ea typeface="Helvetica Light" charset="0"/>
          <a:cs typeface="Helvetica Light" charset="0"/>
        </a:defRPr>
      </a:lvl2pPr>
      <a:lvl3pPr marL="642938" marR="0" indent="-128588" algn="l" defTabSz="514350" rtl="0" eaLnBrk="1" fontAlgn="auto" latinLnBrk="0" hangingPunct="1">
        <a:lnSpc>
          <a:spcPct val="90000"/>
        </a:lnSpc>
        <a:spcBef>
          <a:spcPts val="281"/>
        </a:spcBef>
        <a:spcAft>
          <a:spcPts val="0"/>
        </a:spcAft>
        <a:buClrTx/>
        <a:buSzTx/>
        <a:buFont typeface="Arial"/>
        <a:buChar char="•"/>
        <a:tabLst/>
        <a:defRPr sz="1125" b="0" i="0" kern="1200">
          <a:solidFill>
            <a:schemeClr val="tx1"/>
          </a:solidFill>
          <a:latin typeface="Helvetica Light" charset="0"/>
          <a:ea typeface="Helvetica Light" charset="0"/>
          <a:cs typeface="Helvetica Light" charset="0"/>
        </a:defRPr>
      </a:lvl3pPr>
      <a:lvl4pPr marL="900113" marR="0" indent="-128588" algn="l" defTabSz="514350" rtl="0" eaLnBrk="1" fontAlgn="auto" latinLnBrk="0" hangingPunct="1">
        <a:lnSpc>
          <a:spcPct val="90000"/>
        </a:lnSpc>
        <a:spcBef>
          <a:spcPts val="281"/>
        </a:spcBef>
        <a:spcAft>
          <a:spcPts val="0"/>
        </a:spcAft>
        <a:buClrTx/>
        <a:buSzTx/>
        <a:buFont typeface="Arial"/>
        <a:buChar char="•"/>
        <a:tabLst/>
        <a:defRPr sz="1013" b="0" i="0" kern="1200">
          <a:solidFill>
            <a:schemeClr val="tx1"/>
          </a:solidFill>
          <a:latin typeface="Helvetica Light" charset="0"/>
          <a:ea typeface="Helvetica Light" charset="0"/>
          <a:cs typeface="Helvetica Light" charset="0"/>
        </a:defRPr>
      </a:lvl4pPr>
      <a:lvl5pPr marL="1157288" marR="0" indent="-128588" algn="l" defTabSz="514350" rtl="0" eaLnBrk="1" fontAlgn="auto" latinLnBrk="0" hangingPunct="1">
        <a:lnSpc>
          <a:spcPct val="90000"/>
        </a:lnSpc>
        <a:spcBef>
          <a:spcPts val="281"/>
        </a:spcBef>
        <a:spcAft>
          <a:spcPts val="0"/>
        </a:spcAft>
        <a:buClrTx/>
        <a:buSzTx/>
        <a:buFont typeface="Arial"/>
        <a:buChar char="•"/>
        <a:tabLst/>
        <a:defRPr sz="1013" b="0" i="0" kern="1200">
          <a:solidFill>
            <a:schemeClr val="tx1"/>
          </a:solidFill>
          <a:latin typeface="Helvetica Light" charset="0"/>
          <a:ea typeface="Helvetica Light" charset="0"/>
          <a:cs typeface="Helvetica Light" charset="0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NUL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customXml" Target="../ink/ink1.xml"/><Relationship Id="rId5" Type="http://schemas.openxmlformats.org/officeDocument/2006/relationships/image" Target="NUL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NUL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6" Type="http://schemas.openxmlformats.org/officeDocument/2006/relationships/customXml" Target="../ink/ink2.xml"/><Relationship Id="rId5" Type="http://schemas.openxmlformats.org/officeDocument/2006/relationships/image" Target="NUL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NUL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6" Type="http://schemas.openxmlformats.org/officeDocument/2006/relationships/customXml" Target="../ink/ink3.xml"/><Relationship Id="rId5" Type="http://schemas.openxmlformats.org/officeDocument/2006/relationships/image" Target="NUL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0.png"/><Relationship Id="rId7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10.png"/><Relationship Id="rId5" Type="http://schemas.openxmlformats.org/officeDocument/2006/relationships/image" Target="../media/image200.png"/><Relationship Id="rId4" Type="http://schemas.openxmlformats.org/officeDocument/2006/relationships/image" Target="../media/image21.png"/><Relationship Id="rId9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image" Target="../media/image20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10.png"/><Relationship Id="rId11" Type="http://schemas.openxmlformats.org/officeDocument/2006/relationships/image" Target="../media/image26.png"/><Relationship Id="rId5" Type="http://schemas.openxmlformats.org/officeDocument/2006/relationships/image" Target="../media/image200.png"/><Relationship Id="rId10" Type="http://schemas.openxmlformats.org/officeDocument/2006/relationships/image" Target="../media/image25.png"/><Relationship Id="rId4" Type="http://schemas.openxmlformats.org/officeDocument/2006/relationships/image" Target="../media/image21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7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9.emf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" name="Google Shape;57;p10"/>
          <p:cNvCxnSpPr/>
          <p:nvPr/>
        </p:nvCxnSpPr>
        <p:spPr>
          <a:xfrm>
            <a:off x="2946400" y="4648200"/>
            <a:ext cx="7315200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8" name="Google Shape;58;p10"/>
          <p:cNvSpPr txBox="1"/>
          <p:nvPr/>
        </p:nvSpPr>
        <p:spPr>
          <a:xfrm>
            <a:off x="2844800" y="2717800"/>
            <a:ext cx="90640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marL="4233" indent="-4233">
              <a:buClr>
                <a:schemeClr val="dk1"/>
              </a:buClr>
            </a:pPr>
            <a:r>
              <a:rPr lang="en-US" sz="32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Mathematical Foundations for ML (10-606):</a:t>
            </a:r>
            <a:endParaRPr sz="3200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233" indent="-4233">
              <a:lnSpc>
                <a:spcPct val="115000"/>
              </a:lnSpc>
              <a:spcBef>
                <a:spcPts val="667"/>
              </a:spcBef>
            </a:pPr>
            <a:r>
              <a:rPr lang="en-US" sz="52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Statistics</a:t>
            </a:r>
            <a:r>
              <a:rPr lang="en-US" sz="5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: estimation</a:t>
            </a:r>
            <a:endParaRPr sz="5200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233" indent="-4233"/>
            <a:endParaRPr sz="5333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" name="Google Shape;59;p10"/>
          <p:cNvSpPr txBox="1"/>
          <p:nvPr/>
        </p:nvSpPr>
        <p:spPr>
          <a:xfrm>
            <a:off x="2844800" y="4851400"/>
            <a:ext cx="7010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marL="4233" indent="-4233"/>
            <a:r>
              <a:rPr lang="en-US" sz="2133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Bryan Wilder</a:t>
            </a:r>
            <a:endParaRPr sz="2400" dirty="0"/>
          </a:p>
        </p:txBody>
      </p:sp>
      <p:sp>
        <p:nvSpPr>
          <p:cNvPr id="60" name="Google Shape;60;p10"/>
          <p:cNvSpPr txBox="1"/>
          <p:nvPr/>
        </p:nvSpPr>
        <p:spPr>
          <a:xfrm>
            <a:off x="2844800" y="6260433"/>
            <a:ext cx="9204400" cy="471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-US" sz="1467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* Slides borrowed from prior offerings by Professors M. Gormley, P. Virtue, &amp; G. Gordon, &amp; H. </a:t>
            </a:r>
            <a:r>
              <a:rPr lang="en-US" sz="1467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Heidari</a:t>
            </a:r>
            <a:r>
              <a:rPr lang="en-US" sz="1467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1467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D50E7-1810-D726-C938-5E1E13487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CEF8A-B788-7481-BF63-873AC0E73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1113178"/>
            <a:ext cx="10515600" cy="4418378"/>
          </a:xfrm>
        </p:spPr>
        <p:txBody>
          <a:bodyPr/>
          <a:lstStyle/>
          <a:p>
            <a:r>
              <a:rPr lang="en-US" dirty="0"/>
              <a:t>Final quiz Friday, during recitation slot (2-3:20pm)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848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58917E15-1687-F7C8-C4D7-4B38193F3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">
            <a:extLst>
              <a:ext uri="{FF2B5EF4-FFF2-40B4-BE49-F238E27FC236}">
                <a16:creationId xmlns:a16="http://schemas.microsoft.com/office/drawing/2014/main" id="{9C50ED40-4054-8F3C-8215-1AB7B1D056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46063" y="710027"/>
            <a:ext cx="9142537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 dirty="0"/>
              <a:t>Estimation </a:t>
            </a:r>
            <a:endParaRPr dirty="0"/>
          </a:p>
        </p:txBody>
      </p:sp>
      <p:sp>
        <p:nvSpPr>
          <p:cNvPr id="3" name="Google Shape;97;p7">
            <a:extLst>
              <a:ext uri="{FF2B5EF4-FFF2-40B4-BE49-F238E27FC236}">
                <a16:creationId xmlns:a16="http://schemas.microsoft.com/office/drawing/2014/main" id="{DB45032F-D19A-C3C5-A627-58D38664195F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1246063" y="1636775"/>
            <a:ext cx="8202737" cy="4088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5715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So far, we have introduced distributions as a model for how random variables are generated</a:t>
            </a:r>
          </a:p>
          <a:p>
            <a:pPr marL="5715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 Usually in machine learning/statistics, we want to go backwards: after observing data, we want to </a:t>
            </a:r>
            <a:r>
              <a:rPr lang="en-US" sz="2400" i="1" dirty="0"/>
              <a:t>learn</a:t>
            </a:r>
            <a:r>
              <a:rPr lang="en-US" sz="2400" dirty="0"/>
              <a:t> a model about the generation process (in order to make predictions about the future)</a:t>
            </a:r>
          </a:p>
        </p:txBody>
      </p:sp>
    </p:spTree>
    <p:extLst>
      <p:ext uri="{BB962C8B-B14F-4D97-AF65-F5344CB8AC3E}">
        <p14:creationId xmlns:p14="http://schemas.microsoft.com/office/powerpoint/2010/main" val="1299317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7DADB78A-8930-8DD3-C820-01D6A49F5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">
            <a:extLst>
              <a:ext uri="{FF2B5EF4-FFF2-40B4-BE49-F238E27FC236}">
                <a16:creationId xmlns:a16="http://schemas.microsoft.com/office/drawing/2014/main" id="{52D9BEE6-A720-231F-B8CF-8622BD32AA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46063" y="710027"/>
            <a:ext cx="9142537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 dirty="0"/>
              <a:t>Estimation </a:t>
            </a:r>
            <a:endParaRPr dirty="0"/>
          </a:p>
        </p:txBody>
      </p:sp>
      <p:sp>
        <p:nvSpPr>
          <p:cNvPr id="3" name="Google Shape;97;p7">
            <a:extLst>
              <a:ext uri="{FF2B5EF4-FFF2-40B4-BE49-F238E27FC236}">
                <a16:creationId xmlns:a16="http://schemas.microsoft.com/office/drawing/2014/main" id="{57CD50A7-FF26-97BD-421C-25C1691FCB2D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1246063" y="1636775"/>
            <a:ext cx="9700233" cy="4088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228600" indent="0">
              <a:lnSpc>
                <a:spcPct val="130000"/>
              </a:lnSpc>
            </a:pPr>
            <a:r>
              <a:rPr lang="en-US" sz="2400" dirty="0"/>
              <a:t>Example: suppose you have a </a:t>
            </a:r>
            <a:r>
              <a:rPr lang="en-US" sz="2400" b="1" dirty="0"/>
              <a:t>biased</a:t>
            </a:r>
            <a:r>
              <a:rPr lang="en-US" sz="2400" dirty="0"/>
              <a:t> coin that someone has rigged, and you want to know </a:t>
            </a:r>
            <a:r>
              <a:rPr lang="en-US" sz="2400" dirty="0" err="1"/>
              <a:t>Pr</a:t>
            </a:r>
            <a:r>
              <a:rPr lang="en-US" sz="2400" dirty="0"/>
              <a:t>(heads). You observe:</a:t>
            </a:r>
          </a:p>
          <a:p>
            <a:pPr marL="228600" indent="0">
              <a:lnSpc>
                <a:spcPct val="130000"/>
              </a:lnSpc>
            </a:pPr>
            <a:endParaRPr lang="en-US" sz="2400" dirty="0"/>
          </a:p>
          <a:p>
            <a:pPr marL="228600" indent="0">
              <a:lnSpc>
                <a:spcPct val="130000"/>
              </a:lnSpc>
            </a:pPr>
            <a:r>
              <a:rPr lang="en-US" sz="2400" dirty="0"/>
              <a:t>H, H, T, H, H, H, T</a:t>
            </a:r>
          </a:p>
          <a:p>
            <a:pPr marL="228600" indent="0">
              <a:lnSpc>
                <a:spcPct val="130000"/>
              </a:lnSpc>
            </a:pPr>
            <a:endParaRPr lang="en-US" sz="2400" dirty="0"/>
          </a:p>
          <a:p>
            <a:pPr marL="228600" indent="0">
              <a:lnSpc>
                <a:spcPct val="130000"/>
              </a:lnSpc>
            </a:pPr>
            <a:r>
              <a:rPr lang="en-US" sz="2400" dirty="0"/>
              <a:t>You don’t know </a:t>
            </a:r>
            <a:r>
              <a:rPr lang="en-US" sz="2400" dirty="0" err="1"/>
              <a:t>Pr</a:t>
            </a:r>
            <a:r>
              <a:rPr lang="en-US" sz="2400" dirty="0"/>
              <a:t>(heads), but you can guess based on the data</a:t>
            </a:r>
          </a:p>
        </p:txBody>
      </p:sp>
    </p:spTree>
    <p:extLst>
      <p:ext uri="{BB962C8B-B14F-4D97-AF65-F5344CB8AC3E}">
        <p14:creationId xmlns:p14="http://schemas.microsoft.com/office/powerpoint/2010/main" val="1552425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286D1CA7-D378-4648-C4B1-CE7090634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">
            <a:extLst>
              <a:ext uri="{FF2B5EF4-FFF2-40B4-BE49-F238E27FC236}">
                <a16:creationId xmlns:a16="http://schemas.microsoft.com/office/drawing/2014/main" id="{C54D6086-F0D3-A462-7A81-C41F2EBA0D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46063" y="710027"/>
            <a:ext cx="9142537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 dirty="0"/>
              <a:t>Estimation </a:t>
            </a:r>
            <a:endParaRPr dirty="0"/>
          </a:p>
        </p:txBody>
      </p:sp>
      <p:sp>
        <p:nvSpPr>
          <p:cNvPr id="3" name="Google Shape;97;p7">
            <a:extLst>
              <a:ext uri="{FF2B5EF4-FFF2-40B4-BE49-F238E27FC236}">
                <a16:creationId xmlns:a16="http://schemas.microsoft.com/office/drawing/2014/main" id="{048E1F2D-5657-4DE7-FB39-74E5781FBA49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1246063" y="1636775"/>
            <a:ext cx="9700233" cy="4088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228600" indent="0">
              <a:lnSpc>
                <a:spcPct val="130000"/>
              </a:lnSpc>
            </a:pPr>
            <a:r>
              <a:rPr lang="en-US" sz="2400" dirty="0"/>
              <a:t>Example: suppose you have a </a:t>
            </a:r>
            <a:r>
              <a:rPr lang="en-US" sz="2400" b="1" dirty="0"/>
              <a:t>biased</a:t>
            </a:r>
            <a:r>
              <a:rPr lang="en-US" sz="2400" dirty="0"/>
              <a:t> coin that someone has rigged, and you want to know </a:t>
            </a:r>
            <a:r>
              <a:rPr lang="en-US" sz="2400" dirty="0" err="1"/>
              <a:t>Pr</a:t>
            </a:r>
            <a:r>
              <a:rPr lang="en-US" sz="2400" dirty="0"/>
              <a:t>(heads). You observe:</a:t>
            </a:r>
          </a:p>
          <a:p>
            <a:pPr marL="228600" indent="0">
              <a:lnSpc>
                <a:spcPct val="130000"/>
              </a:lnSpc>
            </a:pPr>
            <a:endParaRPr lang="en-US" sz="2400" dirty="0"/>
          </a:p>
          <a:p>
            <a:pPr marL="228600" indent="0">
              <a:lnSpc>
                <a:spcPct val="130000"/>
              </a:lnSpc>
            </a:pPr>
            <a:r>
              <a:rPr lang="en-US" sz="2400" dirty="0"/>
              <a:t>H, H, T, H, H, H, T</a:t>
            </a:r>
          </a:p>
          <a:p>
            <a:pPr marL="228600" indent="0">
              <a:lnSpc>
                <a:spcPct val="130000"/>
              </a:lnSpc>
            </a:pPr>
            <a:endParaRPr lang="en-US" sz="2400" dirty="0"/>
          </a:p>
          <a:p>
            <a:pPr marL="228600" indent="0">
              <a:lnSpc>
                <a:spcPct val="130000"/>
              </a:lnSpc>
            </a:pPr>
            <a:r>
              <a:rPr lang="en-US" sz="2400" dirty="0"/>
              <a:t>You don’t know </a:t>
            </a:r>
            <a:r>
              <a:rPr lang="en-US" sz="2400" dirty="0" err="1"/>
              <a:t>Pr</a:t>
            </a:r>
            <a:r>
              <a:rPr lang="en-US" sz="2400" dirty="0"/>
              <a:t>(heads), but you can guess based on the data</a:t>
            </a:r>
          </a:p>
          <a:p>
            <a:pPr marL="228600" indent="0">
              <a:lnSpc>
                <a:spcPct val="130000"/>
              </a:lnSpc>
            </a:pPr>
            <a:endParaRPr lang="en-US" sz="2400" dirty="0"/>
          </a:p>
          <a:p>
            <a:pPr marL="228600" indent="0">
              <a:lnSpc>
                <a:spcPct val="130000"/>
              </a:lnSpc>
            </a:pPr>
            <a:r>
              <a:rPr lang="en-US" sz="2400" dirty="0"/>
              <a:t>Natural idea: </a:t>
            </a:r>
            <a:r>
              <a:rPr lang="en-US" sz="2400" dirty="0" err="1"/>
              <a:t>Pr</a:t>
            </a:r>
            <a:r>
              <a:rPr lang="en-US" sz="2400" dirty="0"/>
              <a:t>(heads) = 5/7</a:t>
            </a:r>
          </a:p>
        </p:txBody>
      </p:sp>
    </p:spTree>
    <p:extLst>
      <p:ext uri="{BB962C8B-B14F-4D97-AF65-F5344CB8AC3E}">
        <p14:creationId xmlns:p14="http://schemas.microsoft.com/office/powerpoint/2010/main" val="6517262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D3CFAABE-A99A-9798-6E16-D2E11C928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">
            <a:extLst>
              <a:ext uri="{FF2B5EF4-FFF2-40B4-BE49-F238E27FC236}">
                <a16:creationId xmlns:a16="http://schemas.microsoft.com/office/drawing/2014/main" id="{7ADF32FE-53CD-0600-6D9E-76701F839B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46063" y="710027"/>
            <a:ext cx="9142537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 dirty="0"/>
              <a:t>Estimation </a:t>
            </a:r>
            <a:endParaRPr dirty="0"/>
          </a:p>
        </p:txBody>
      </p:sp>
      <p:sp>
        <p:nvSpPr>
          <p:cNvPr id="3" name="Google Shape;97;p7">
            <a:extLst>
              <a:ext uri="{FF2B5EF4-FFF2-40B4-BE49-F238E27FC236}">
                <a16:creationId xmlns:a16="http://schemas.microsoft.com/office/drawing/2014/main" id="{C1EC4B81-BCF3-1EC6-FDE8-39EB3502F5D0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1246063" y="1636775"/>
            <a:ext cx="9700233" cy="4088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228600" indent="0">
              <a:lnSpc>
                <a:spcPct val="130000"/>
              </a:lnSpc>
            </a:pPr>
            <a:r>
              <a:rPr lang="en-US" sz="2400" dirty="0"/>
              <a:t>Guessing </a:t>
            </a:r>
            <a:r>
              <a:rPr lang="en-US" sz="2400" dirty="0" err="1"/>
              <a:t>Pr</a:t>
            </a:r>
            <a:r>
              <a:rPr lang="en-US" sz="2400" dirty="0"/>
              <a:t>(heads) = 5/7 has a fancier name: the </a:t>
            </a:r>
            <a:r>
              <a:rPr lang="en-US" sz="2400" i="1" dirty="0"/>
              <a:t>maximum likelihood estimate</a:t>
            </a:r>
            <a:endParaRPr lang="en-US" sz="2400" dirty="0"/>
          </a:p>
          <a:p>
            <a:pPr marL="228600" indent="0">
              <a:lnSpc>
                <a:spcPct val="13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179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8170E46A-E611-2B6A-61C5-DD9B47EF5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">
            <a:extLst>
              <a:ext uri="{FF2B5EF4-FFF2-40B4-BE49-F238E27FC236}">
                <a16:creationId xmlns:a16="http://schemas.microsoft.com/office/drawing/2014/main" id="{DEEFB1D9-9705-BE4B-1FA0-DDCC5C369A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46063" y="710027"/>
            <a:ext cx="9142537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 dirty="0"/>
              <a:t>Estimation 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Google Shape;97;p7">
                <a:extLst>
                  <a:ext uri="{FF2B5EF4-FFF2-40B4-BE49-F238E27FC236}">
                    <a16:creationId xmlns:a16="http://schemas.microsoft.com/office/drawing/2014/main" id="{E565960D-455B-15CC-C74B-AE45C672D5F4}"/>
                  </a:ext>
                </a:extLst>
              </p:cNvPr>
              <p:cNvSpPr txBox="1">
                <a:spLocks noGrp="1"/>
              </p:cNvSpPr>
              <p:nvPr>
                <p:ph type="body" idx="2"/>
              </p:nvPr>
            </p:nvSpPr>
            <p:spPr>
              <a:xfrm>
                <a:off x="1246063" y="1636775"/>
                <a:ext cx="9700233" cy="40881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228600" indent="0">
                  <a:lnSpc>
                    <a:spcPct val="130000"/>
                  </a:lnSpc>
                </a:pPr>
                <a:r>
                  <a:rPr lang="en-US" sz="2400" dirty="0"/>
                  <a:t>Adding some notation….</a:t>
                </a:r>
              </a:p>
              <a:p>
                <a:pPr marL="228600" indent="0">
                  <a:lnSpc>
                    <a:spcPct val="130000"/>
                  </a:lnSpc>
                </a:pPr>
                <a:endParaRPr lang="en-US" sz="2400" dirty="0"/>
              </a:p>
              <a:p>
                <a:pPr marL="228600" indent="0">
                  <a:lnSpc>
                    <a:spcPct val="130000"/>
                  </a:lnSpc>
                </a:pPr>
                <a:r>
                  <a:rPr lang="en-US" sz="2400" dirty="0"/>
                  <a:t>We saw random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sz="2400" dirty="0"/>
                  <a:t> from a distribution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400" dirty="0"/>
                  <a:t> with an unknown parameter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400" dirty="0"/>
                  <a:t>. </a:t>
                </a:r>
              </a:p>
              <a:p>
                <a:pPr marL="228600" indent="0">
                  <a:lnSpc>
                    <a:spcPct val="130000"/>
                  </a:lnSpc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lang="en-US" sz="2400" dirty="0"/>
                  <a:t>,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h𝑒𝑎𝑑𝑠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)</a:t>
                </a:r>
              </a:p>
              <a:p>
                <a:pPr marL="228600" indent="0">
                  <a:lnSpc>
                    <a:spcPct val="130000"/>
                  </a:lnSpc>
                </a:pPr>
                <a:endParaRPr lang="en-US" sz="2400" dirty="0"/>
              </a:p>
              <a:p>
                <a:pPr marL="228600" indent="0">
                  <a:lnSpc>
                    <a:spcPct val="130000"/>
                  </a:lnSpc>
                </a:pPr>
                <a:r>
                  <a:rPr lang="en-US" sz="2400" dirty="0"/>
                  <a:t>Maximum likelihood: estimate = value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400" dirty="0"/>
                  <a:t> that maximized the probability of the observed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Google Shape;97;p7">
                <a:extLst>
                  <a:ext uri="{FF2B5EF4-FFF2-40B4-BE49-F238E27FC236}">
                    <a16:creationId xmlns:a16="http://schemas.microsoft.com/office/drawing/2014/main" id="{E565960D-455B-15CC-C74B-AE45C672D5F4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xfrm>
                <a:off x="1246063" y="1636775"/>
                <a:ext cx="9700233" cy="40881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0528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DED3379-D69C-AD6D-CF8F-A38313B79D4B}"/>
                  </a:ext>
                </a:extLst>
              </p:cNvPr>
              <p:cNvSpPr>
                <a:spLocks noGrp="1"/>
              </p:cNvSpPr>
              <p:nvPr>
                <p:ph type="body" idx="2"/>
              </p:nvPr>
            </p:nvSpPr>
            <p:spPr>
              <a:xfrm>
                <a:off x="1246063" y="1634644"/>
                <a:ext cx="9177402" cy="4533203"/>
              </a:xfrm>
            </p:spPr>
            <p:txBody>
              <a:bodyPr>
                <a:normAutofit fontScale="92500" lnSpcReduction="10000"/>
              </a:bodyPr>
              <a:lstStyle/>
              <a:p>
                <a:pPr marL="5715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Given </a:t>
                </a:r>
                <a:r>
                  <a:rPr lang="en-US" dirty="0">
                    <a:solidFill>
                      <a:schemeClr val="accent1"/>
                    </a:solidFill>
                  </a:rPr>
                  <a:t>𝑁</a:t>
                </a:r>
                <a:r>
                  <a:rPr lang="en-US" dirty="0"/>
                  <a:t> independent, identically distribution (</a:t>
                </a:r>
                <a:r>
                  <a:rPr lang="en-US" dirty="0" err="1"/>
                  <a:t>iid</a:t>
                </a:r>
                <a:r>
                  <a:rPr lang="en-US" dirty="0"/>
                  <a:t>) samples 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𝒟</m:t>
                    </m:r>
                    <m:r>
                      <a:rPr lang="en-US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={</m:t>
                    </m:r>
                    <m:sSup>
                      <m:sSupPr>
                        <m:ctrlPr>
                          <a:rPr lang="en-US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en-US" i="1" dirty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  <m:r>
                      <a:rPr lang="en-US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, …, </m:t>
                    </m:r>
                    <m:sSup>
                      <m:sSupPr>
                        <m:ctrlPr>
                          <a:rPr lang="en-US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en-US" i="1" dirty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d>
                      </m:sup>
                    </m:sSup>
                    <m:r>
                      <a:rPr lang="en-US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 </a:t>
                </a:r>
                <a:r>
                  <a:rPr lang="en-US" dirty="0"/>
                  <a:t>of a random variable </a:t>
                </a:r>
                <a:r>
                  <a:rPr lang="en-US" dirty="0">
                    <a:solidFill>
                      <a:schemeClr val="accent1"/>
                    </a:solidFill>
                  </a:rPr>
                  <a:t>𝑋</a:t>
                </a:r>
                <a:r>
                  <a:rPr lang="en-US" dirty="0"/>
                  <a:t> whose distribution is parametrized by </a:t>
                </a:r>
                <a:r>
                  <a:rPr lang="en-US" dirty="0">
                    <a:solidFill>
                      <a:schemeClr val="accent1"/>
                    </a:solidFill>
                  </a:rPr>
                  <a:t>𝜃</a:t>
                </a:r>
                <a:r>
                  <a:rPr lang="en-US" dirty="0"/>
                  <a:t>:</a:t>
                </a:r>
              </a:p>
              <a:p>
                <a:pPr marL="1028700" lvl="1">
                  <a:buFont typeface="Arial" panose="020B0604020202020204" pitchFamily="34" charset="0"/>
                  <a:buChar char="•"/>
                </a:pPr>
                <a:r>
                  <a:rPr lang="en-US" dirty="0"/>
                  <a:t>If </a:t>
                </a:r>
                <a:r>
                  <a:rPr lang="en-US" dirty="0">
                    <a:solidFill>
                      <a:schemeClr val="accent1"/>
                    </a:solidFill>
                  </a:rPr>
                  <a:t>𝑋</a:t>
                </a:r>
                <a:r>
                  <a:rPr lang="en-US" dirty="0"/>
                  <a:t> is discrete with probability mass function (</a:t>
                </a:r>
                <a:r>
                  <a:rPr lang="en-US" dirty="0" err="1"/>
                  <a:t>pmf</a:t>
                </a:r>
                <a:r>
                  <a:rPr lang="en-US" dirty="0"/>
                  <a:t>)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a:rPr lang="en-US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dirty="0"/>
                  <a:t>, then the likelihood of </a:t>
                </a:r>
                <a:r>
                  <a:rPr lang="en-US" dirty="0">
                    <a:solidFill>
                      <a:schemeClr val="accent1"/>
                    </a:solidFill>
                  </a:rPr>
                  <a:t>𝒟</a:t>
                </a:r>
                <a:r>
                  <a:rPr lang="en-US" dirty="0"/>
                  <a:t> is </a:t>
                </a:r>
              </a:p>
              <a:p>
                <a:pPr marL="6858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∏"/>
                          <m:ctrlPr>
                            <a:rPr lang="en-US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 dirty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 dirty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 dirty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i="1" dirty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 dirty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d>
                                </m:sup>
                              </m:sSup>
                            </m:e>
                            <m:e>
                              <m:r>
                                <a:rPr lang="en-US" i="1" dirty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  <a:p>
                <a:pPr marL="1028700" lvl="1">
                  <a:buFont typeface="Arial" panose="020B0604020202020204" pitchFamily="34" charset="0"/>
                  <a:buChar char="•"/>
                </a:pPr>
                <a:r>
                  <a:rPr lang="en-US" dirty="0"/>
                  <a:t>If </a:t>
                </a:r>
                <a:r>
                  <a:rPr lang="en-US" dirty="0">
                    <a:solidFill>
                      <a:schemeClr val="accent1"/>
                    </a:solidFill>
                  </a:rPr>
                  <a:t>𝑋</a:t>
                </a:r>
                <a:r>
                  <a:rPr lang="en-US" dirty="0"/>
                  <a:t> is continuous with probability density function (pdf)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a:rPr lang="en-US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dirty="0"/>
                  <a:t>, then the likelihood of </a:t>
                </a:r>
                <a:r>
                  <a:rPr lang="en-US" dirty="0">
                    <a:solidFill>
                      <a:schemeClr val="accent1"/>
                    </a:solidFill>
                  </a:rPr>
                  <a:t>𝒟</a:t>
                </a:r>
                <a:r>
                  <a:rPr lang="en-US" dirty="0"/>
                  <a:t> is </a:t>
                </a:r>
              </a:p>
              <a:p>
                <a:pPr marL="6858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∏"/>
                          <m:ctrlPr>
                            <a:rPr lang="en-US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b="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 dirty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 dirty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 dirty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i="1" dirty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 dirty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d>
                                </m:sup>
                              </m:sSup>
                            </m:e>
                            <m:e>
                              <m:r>
                                <a:rPr lang="en-US" i="1" dirty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  <a:p>
                <a:pPr marL="1028700" lvl="1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571500" indent="-34290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571500" indent="-34290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DED3379-D69C-AD6D-CF8F-A38313B79D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xfrm>
                <a:off x="1246063" y="1634644"/>
                <a:ext cx="9177402" cy="4533203"/>
              </a:xfrm>
              <a:blipFill>
                <a:blip r:embed="rId3"/>
                <a:stretch>
                  <a:fillRect t="-2285" r="-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6" name="Google Shape;96;p7"/>
          <p:cNvSpPr txBox="1">
            <a:spLocks noGrp="1"/>
          </p:cNvSpPr>
          <p:nvPr>
            <p:ph type="body" idx="1"/>
          </p:nvPr>
        </p:nvSpPr>
        <p:spPr>
          <a:xfrm>
            <a:off x="1246063" y="690152"/>
            <a:ext cx="5883275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3600"/>
              <a:buNone/>
            </a:pPr>
            <a:r>
              <a:rPr lang="en-US"/>
              <a:t>Likelihood 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2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2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F80218D7-3746-9C8C-5A31-FAA9A907A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">
            <a:extLst>
              <a:ext uri="{FF2B5EF4-FFF2-40B4-BE49-F238E27FC236}">
                <a16:creationId xmlns:a16="http://schemas.microsoft.com/office/drawing/2014/main" id="{924B6DA4-8872-3FFF-4FC8-E08361AD36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46063" y="710027"/>
            <a:ext cx="9142537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 dirty="0"/>
              <a:t>Estimation 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Google Shape;97;p7">
                <a:extLst>
                  <a:ext uri="{FF2B5EF4-FFF2-40B4-BE49-F238E27FC236}">
                    <a16:creationId xmlns:a16="http://schemas.microsoft.com/office/drawing/2014/main" id="{456FF6AF-943A-6F44-DFDC-36D2E90E31D5}"/>
                  </a:ext>
                </a:extLst>
              </p:cNvPr>
              <p:cNvSpPr txBox="1">
                <a:spLocks noGrp="1"/>
              </p:cNvSpPr>
              <p:nvPr>
                <p:ph type="body" idx="2"/>
              </p:nvPr>
            </p:nvSpPr>
            <p:spPr>
              <a:xfrm>
                <a:off x="1246063" y="1636775"/>
                <a:ext cx="9700233" cy="40881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228600" indent="0">
                  <a:lnSpc>
                    <a:spcPct val="130000"/>
                  </a:lnSpc>
                </a:pPr>
                <a:r>
                  <a:rPr lang="en-US" sz="2400" dirty="0"/>
                  <a:t>The maximum likelihood estimator:</a:t>
                </a:r>
              </a:p>
              <a:p>
                <a:pPr marL="228600" indent="0">
                  <a:lnSpc>
                    <a:spcPct val="130000"/>
                  </a:lnSpc>
                </a:pPr>
                <a:endParaRPr lang="en-US" sz="2400" dirty="0"/>
              </a:p>
              <a:p>
                <a:pPr marL="228600" indent="0"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lim>
                          </m:limLow>
                        </m:fName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Google Shape;97;p7">
                <a:extLst>
                  <a:ext uri="{FF2B5EF4-FFF2-40B4-BE49-F238E27FC236}">
                    <a16:creationId xmlns:a16="http://schemas.microsoft.com/office/drawing/2014/main" id="{456FF6AF-943A-6F44-DFDC-36D2E90E31D5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xfrm>
                <a:off x="1246063" y="1636775"/>
                <a:ext cx="9700233" cy="40881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89952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C55B3FD5-67D9-5388-C33C-E8F9079F0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">
            <a:extLst>
              <a:ext uri="{FF2B5EF4-FFF2-40B4-BE49-F238E27FC236}">
                <a16:creationId xmlns:a16="http://schemas.microsoft.com/office/drawing/2014/main" id="{5F0819E1-BEEB-3DCF-8675-0A4806793E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46063" y="710027"/>
            <a:ext cx="9142537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 dirty="0"/>
              <a:t>Estimation 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Google Shape;97;p7">
                <a:extLst>
                  <a:ext uri="{FF2B5EF4-FFF2-40B4-BE49-F238E27FC236}">
                    <a16:creationId xmlns:a16="http://schemas.microsoft.com/office/drawing/2014/main" id="{F9B556C1-E7F9-D37F-D1DF-F68C7D4335B8}"/>
                  </a:ext>
                </a:extLst>
              </p:cNvPr>
              <p:cNvSpPr txBox="1">
                <a:spLocks noGrp="1"/>
              </p:cNvSpPr>
              <p:nvPr>
                <p:ph type="body" idx="2"/>
              </p:nvPr>
            </p:nvSpPr>
            <p:spPr>
              <a:xfrm>
                <a:off x="1246063" y="1636775"/>
                <a:ext cx="9700233" cy="40881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228600" indent="0">
                  <a:lnSpc>
                    <a:spcPct val="130000"/>
                  </a:lnSpc>
                </a:pPr>
                <a:r>
                  <a:rPr lang="en-US" sz="2400" dirty="0"/>
                  <a:t>The maximum likelihood estimator:</a:t>
                </a:r>
              </a:p>
              <a:p>
                <a:pPr marL="228600" indent="0">
                  <a:lnSpc>
                    <a:spcPct val="130000"/>
                  </a:lnSpc>
                </a:pPr>
                <a:endParaRPr lang="en-US" sz="2400" dirty="0"/>
              </a:p>
              <a:p>
                <a:pPr marL="228600" indent="0"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lim>
                          </m:limLow>
                        </m:fName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2400" dirty="0"/>
              </a:p>
              <a:p>
                <a:pPr marL="228600" indent="0">
                  <a:lnSpc>
                    <a:spcPct val="130000"/>
                  </a:lnSpc>
                </a:pPr>
                <a:endParaRPr lang="en-US" sz="2400" dirty="0"/>
              </a:p>
              <a:p>
                <a:pPr marL="228600" indent="0">
                  <a:lnSpc>
                    <a:spcPct val="130000"/>
                  </a:lnSpc>
                </a:pPr>
                <a:r>
                  <a:rPr lang="en-US" sz="2400" dirty="0"/>
                  <a:t>How to find the MLE? Tools from optimization!</a:t>
                </a:r>
              </a:p>
            </p:txBody>
          </p:sp>
        </mc:Choice>
        <mc:Fallback xmlns="">
          <p:sp>
            <p:nvSpPr>
              <p:cNvPr id="3" name="Google Shape;97;p7">
                <a:extLst>
                  <a:ext uri="{FF2B5EF4-FFF2-40B4-BE49-F238E27FC236}">
                    <a16:creationId xmlns:a16="http://schemas.microsoft.com/office/drawing/2014/main" id="{F9B556C1-E7F9-D37F-D1DF-F68C7D4335B8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xfrm>
                <a:off x="1246063" y="1636775"/>
                <a:ext cx="9700233" cy="40881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8938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DED3379-D69C-AD6D-CF8F-A38313B79D4B}"/>
                  </a:ext>
                </a:extLst>
              </p:cNvPr>
              <p:cNvSpPr>
                <a:spLocks noGrp="1"/>
              </p:cNvSpPr>
              <p:nvPr>
                <p:ph type="body" idx="2"/>
              </p:nvPr>
            </p:nvSpPr>
            <p:spPr>
              <a:xfrm>
                <a:off x="1246063" y="1634644"/>
                <a:ext cx="9177402" cy="4533203"/>
              </a:xfrm>
            </p:spPr>
            <p:txBody>
              <a:bodyPr>
                <a:normAutofit fontScale="92500" lnSpcReduction="10000"/>
              </a:bodyPr>
              <a:lstStyle/>
              <a:p>
                <a:pPr marL="5715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Given </a:t>
                </a:r>
                <a:r>
                  <a:rPr lang="en-US" dirty="0">
                    <a:solidFill>
                      <a:schemeClr val="accent1"/>
                    </a:solidFill>
                  </a:rPr>
                  <a:t>𝑁</a:t>
                </a:r>
                <a:r>
                  <a:rPr lang="en-US" dirty="0"/>
                  <a:t> independent, identically distribution (</a:t>
                </a:r>
                <a:r>
                  <a:rPr lang="en-US" dirty="0" err="1"/>
                  <a:t>iid</a:t>
                </a:r>
                <a:r>
                  <a:rPr lang="en-US" dirty="0"/>
                  <a:t>) samples 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𝒟</m:t>
                    </m:r>
                    <m:r>
                      <a:rPr lang="en-US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={</m:t>
                    </m:r>
                    <m:sSup>
                      <m:sSupPr>
                        <m:ctrlPr>
                          <a:rPr lang="en-US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en-US" i="1" dirty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  <m:r>
                      <a:rPr lang="en-US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, …, </m:t>
                    </m:r>
                    <m:sSup>
                      <m:sSupPr>
                        <m:ctrlPr>
                          <a:rPr lang="en-US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en-US" i="1" dirty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d>
                      </m:sup>
                    </m:sSup>
                    <m:r>
                      <a:rPr lang="en-US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 </a:t>
                </a:r>
                <a:r>
                  <a:rPr lang="en-US" dirty="0"/>
                  <a:t>of a random variable </a:t>
                </a:r>
                <a:r>
                  <a:rPr lang="en-US" dirty="0">
                    <a:solidFill>
                      <a:schemeClr val="accent1"/>
                    </a:solidFill>
                  </a:rPr>
                  <a:t>𝑋</a:t>
                </a:r>
                <a:r>
                  <a:rPr lang="en-US" dirty="0"/>
                  <a:t> whose distribution is parametrized by </a:t>
                </a:r>
                <a:r>
                  <a:rPr lang="en-US" dirty="0">
                    <a:solidFill>
                      <a:schemeClr val="accent1"/>
                    </a:solidFill>
                  </a:rPr>
                  <a:t>𝜃</a:t>
                </a:r>
                <a:r>
                  <a:rPr lang="en-US" dirty="0"/>
                  <a:t>:</a:t>
                </a:r>
              </a:p>
              <a:p>
                <a:pPr marL="1028700" lvl="1">
                  <a:buFont typeface="Arial" panose="020B0604020202020204" pitchFamily="34" charset="0"/>
                  <a:buChar char="•"/>
                </a:pPr>
                <a:r>
                  <a:rPr lang="en-US" dirty="0"/>
                  <a:t>If </a:t>
                </a:r>
                <a:r>
                  <a:rPr lang="en-US" dirty="0">
                    <a:solidFill>
                      <a:schemeClr val="accent1"/>
                    </a:solidFill>
                  </a:rPr>
                  <a:t>𝑋</a:t>
                </a:r>
                <a:r>
                  <a:rPr lang="en-US" dirty="0"/>
                  <a:t> is discrete with probability mass function (</a:t>
                </a:r>
                <a:r>
                  <a:rPr lang="en-US" dirty="0" err="1"/>
                  <a:t>pmf</a:t>
                </a:r>
                <a:r>
                  <a:rPr lang="en-US" dirty="0"/>
                  <a:t>)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a:rPr lang="en-US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dirty="0"/>
                  <a:t>, then the log-likelihood of </a:t>
                </a:r>
                <a:r>
                  <a:rPr lang="en-US" dirty="0">
                    <a:solidFill>
                      <a:schemeClr val="accent1"/>
                    </a:solidFill>
                  </a:rPr>
                  <a:t>𝒟</a:t>
                </a:r>
                <a:r>
                  <a:rPr lang="en-US" dirty="0"/>
                  <a:t> is </a:t>
                </a:r>
              </a:p>
              <a:p>
                <a:pPr marL="6858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ℓ</m:t>
                      </m:r>
                      <m:d>
                        <m:dPr>
                          <m:ctrlPr>
                            <a:rPr lang="en-US" b="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nary>
                            <m:naryPr>
                              <m:chr m:val="∏"/>
                              <m:ctrlPr>
                                <a:rPr lang="en-US" i="1" dirty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 dirty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 dirty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 dirty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r>
                                <a:rPr lang="en-US" i="1" dirty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i="1" dirty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i="1" dirty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 dirty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i="1" dirty="0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 dirty="0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  <m:e>
                                  <m:r>
                                    <a:rPr lang="en-US" i="1" dirty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nary>
                        </m:e>
                      </m:func>
                      <m:r>
                        <a:rPr lang="en-US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unc>
                            <m:funcPr>
                              <m:ctrlPr>
                                <a:rPr lang="en-US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b="0" i="1" dirty="0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0" i="1" dirty="0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dirty="0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b="0" i="1" dirty="0" smtClean="0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dirty="0" smtClean="0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  <m:e>
                                  <m:r>
                                    <a:rPr lang="en-US" b="0" i="1" dirty="0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US" dirty="0"/>
              </a:p>
              <a:p>
                <a:pPr marL="1028700" lvl="1">
                  <a:buFont typeface="Arial" panose="020B0604020202020204" pitchFamily="34" charset="0"/>
                  <a:buChar char="•"/>
                </a:pPr>
                <a:r>
                  <a:rPr lang="en-US" dirty="0"/>
                  <a:t>If </a:t>
                </a:r>
                <a:r>
                  <a:rPr lang="en-US" dirty="0">
                    <a:solidFill>
                      <a:schemeClr val="accent1"/>
                    </a:solidFill>
                  </a:rPr>
                  <a:t>𝑋</a:t>
                </a:r>
                <a:r>
                  <a:rPr lang="en-US" dirty="0"/>
                  <a:t> is continuous with probability density function (pdf)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a:rPr lang="en-US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dirty="0"/>
                  <a:t>, then the log-likelihood of </a:t>
                </a:r>
                <a:r>
                  <a:rPr lang="en-US" dirty="0">
                    <a:solidFill>
                      <a:schemeClr val="accent1"/>
                    </a:solidFill>
                  </a:rPr>
                  <a:t>𝒟</a:t>
                </a:r>
                <a:r>
                  <a:rPr lang="en-US" dirty="0"/>
                  <a:t> is </a:t>
                </a:r>
              </a:p>
              <a:p>
                <a:pPr marL="6858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ℓ</m:t>
                      </m:r>
                      <m:r>
                        <a:rPr lang="en-US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unc>
                        <m:funcPr>
                          <m:ctrlPr>
                            <a:rPr lang="en-US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nary>
                            <m:naryPr>
                              <m:chr m:val="∏"/>
                              <m:ctrlPr>
                                <a:rPr lang="en-US" i="1" dirty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 dirty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 dirty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 dirty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r>
                                <a:rPr lang="en-US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i="1" dirty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i="1" dirty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 dirty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i="1" dirty="0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 dirty="0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  <m:e>
                                  <m:r>
                                    <a:rPr lang="en-US" i="1" dirty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nary>
                        </m:e>
                      </m:func>
                      <m:r>
                        <a:rPr lang="en-US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unc>
                            <m:funcPr>
                              <m:ctrlPr>
                                <a:rPr lang="en-US" i="1" dirty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dirty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i="1" dirty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i="1" dirty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 dirty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i="1" dirty="0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 dirty="0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  <m:e>
                                  <m:r>
                                    <a:rPr lang="en-US" i="1" dirty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US" dirty="0"/>
              </a:p>
              <a:p>
                <a:pPr marL="1028700" lvl="1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571500" indent="-34290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571500" indent="-34290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DED3379-D69C-AD6D-CF8F-A38313B79D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xfrm>
                <a:off x="1246063" y="1634644"/>
                <a:ext cx="9177402" cy="4533203"/>
              </a:xfrm>
              <a:blipFill>
                <a:blip r:embed="rId3"/>
                <a:stretch>
                  <a:fillRect t="-2285" r="-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6" name="Google Shape;96;p7"/>
          <p:cNvSpPr txBox="1">
            <a:spLocks noGrp="1"/>
          </p:cNvSpPr>
          <p:nvPr>
            <p:ph type="body" idx="1"/>
          </p:nvPr>
        </p:nvSpPr>
        <p:spPr>
          <a:xfrm>
            <a:off x="1246063" y="690152"/>
            <a:ext cx="5883275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3600"/>
              <a:buNone/>
            </a:pPr>
            <a:r>
              <a:rPr lang="en-US" dirty="0"/>
              <a:t>Log-Likelihood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40621968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A754DF95-D0C8-EECD-938E-D81D01476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">
            <a:extLst>
              <a:ext uri="{FF2B5EF4-FFF2-40B4-BE49-F238E27FC236}">
                <a16:creationId xmlns:a16="http://schemas.microsoft.com/office/drawing/2014/main" id="{57707C0E-1AF4-C6FE-ECA0-65F6321691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46063" y="710027"/>
            <a:ext cx="9142537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 dirty="0"/>
              <a:t>Whiteboard </a:t>
            </a:r>
            <a:endParaRPr dirty="0"/>
          </a:p>
        </p:txBody>
      </p:sp>
      <p:sp>
        <p:nvSpPr>
          <p:cNvPr id="3" name="Google Shape;97;p7">
            <a:extLst>
              <a:ext uri="{FF2B5EF4-FFF2-40B4-BE49-F238E27FC236}">
                <a16:creationId xmlns:a16="http://schemas.microsoft.com/office/drawing/2014/main" id="{D3C9F123-99B1-C198-3F8C-E6576A9BD5CA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1246063" y="1636775"/>
            <a:ext cx="9700233" cy="4088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228600" indent="0">
              <a:lnSpc>
                <a:spcPct val="130000"/>
              </a:lnSpc>
            </a:pPr>
            <a:r>
              <a:rPr lang="en-US" sz="2400" dirty="0"/>
              <a:t>Write the likelihood for a Binomial variable</a:t>
            </a:r>
          </a:p>
          <a:p>
            <a:pPr marL="228600" indent="0">
              <a:lnSpc>
                <a:spcPct val="130000"/>
              </a:lnSpc>
            </a:pPr>
            <a:r>
              <a:rPr lang="en-US" sz="2400" dirty="0"/>
              <a:t>Take the log</a:t>
            </a:r>
          </a:p>
          <a:p>
            <a:pPr marL="228600" indent="0">
              <a:lnSpc>
                <a:spcPct val="130000"/>
              </a:lnSpc>
            </a:pPr>
            <a:r>
              <a:rPr lang="en-US" sz="2400" dirty="0"/>
              <a:t>Take the derivative and set it equal to 0</a:t>
            </a:r>
          </a:p>
        </p:txBody>
      </p:sp>
    </p:spTree>
    <p:extLst>
      <p:ext uri="{BB962C8B-B14F-4D97-AF65-F5344CB8AC3E}">
        <p14:creationId xmlns:p14="http://schemas.microsoft.com/office/powerpoint/2010/main" val="5878248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"/>
          <p:cNvSpPr txBox="1">
            <a:spLocks noGrp="1"/>
          </p:cNvSpPr>
          <p:nvPr>
            <p:ph type="body" idx="1"/>
          </p:nvPr>
        </p:nvSpPr>
        <p:spPr>
          <a:xfrm>
            <a:off x="1246063" y="710027"/>
            <a:ext cx="9142537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 dirty="0"/>
              <a:t>Maximum Likelihood Estimation (MLE)</a:t>
            </a:r>
            <a:endParaRPr dirty="0"/>
          </a:p>
        </p:txBody>
      </p:sp>
      <p:sp>
        <p:nvSpPr>
          <p:cNvPr id="3" name="Google Shape;97;p7">
            <a:extLst>
              <a:ext uri="{FF2B5EF4-FFF2-40B4-BE49-F238E27FC236}">
                <a16:creationId xmlns:a16="http://schemas.microsoft.com/office/drawing/2014/main" id="{2C2CEAAF-2DAF-0AFE-6E28-303D0127107E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1246063" y="1636775"/>
            <a:ext cx="5484937" cy="4511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228600" indent="0">
              <a:lnSpc>
                <a:spcPct val="130000"/>
              </a:lnSpc>
            </a:pPr>
            <a:r>
              <a:rPr lang="en-US" sz="2400" dirty="0"/>
              <a:t>A second example: wait times</a:t>
            </a:r>
          </a:p>
          <a:p>
            <a:pPr marL="228600" indent="0">
              <a:lnSpc>
                <a:spcPct val="130000"/>
              </a:lnSpc>
            </a:pPr>
            <a:endParaRPr lang="en-US" sz="2400" dirty="0"/>
          </a:p>
          <a:p>
            <a:pPr marL="228600" indent="0">
              <a:lnSpc>
                <a:spcPct val="130000"/>
              </a:lnSpc>
            </a:pPr>
            <a:r>
              <a:rPr lang="en-US" sz="2400" dirty="0"/>
              <a:t>Suppose you observe samples of wait times in line at your favorite ice cream place. </a:t>
            </a:r>
          </a:p>
          <a:p>
            <a:pPr marL="228600" indent="0">
              <a:lnSpc>
                <a:spcPct val="130000"/>
              </a:lnSpc>
            </a:pPr>
            <a:endParaRPr lang="en-US" sz="2400" dirty="0"/>
          </a:p>
          <a:p>
            <a:pPr marL="228600" indent="0">
              <a:lnSpc>
                <a:spcPct val="130000"/>
              </a:lnSpc>
            </a:pPr>
            <a:r>
              <a:rPr lang="en-US" sz="2400" dirty="0"/>
              <a:t>How long should you expect to wait in the future? What is the probability you’ll wait at least 5 min?</a:t>
            </a:r>
          </a:p>
          <a:p>
            <a:pPr marL="228600" indent="0">
              <a:lnSpc>
                <a:spcPct val="130000"/>
              </a:lnSpc>
            </a:pPr>
            <a:endParaRPr lang="en-US" sz="2400" dirty="0"/>
          </a:p>
        </p:txBody>
      </p:sp>
      <p:pic>
        <p:nvPicPr>
          <p:cNvPr id="4" name="Picture 2" descr="plot of the probability density function of the exponential distribution">
            <a:extLst>
              <a:ext uri="{FF2B5EF4-FFF2-40B4-BE49-F238E27FC236}">
                <a16:creationId xmlns:a16="http://schemas.microsoft.com/office/drawing/2014/main" id="{AD07D1CE-2C88-5F27-6453-719994D0CF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8387" y="2498704"/>
            <a:ext cx="3545821" cy="2836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E2AA9D9-6F57-DD29-E287-306D1BF6B4A2}"/>
              </a:ext>
            </a:extLst>
          </p:cNvPr>
          <p:cNvSpPr txBox="1"/>
          <p:nvPr/>
        </p:nvSpPr>
        <p:spPr>
          <a:xfrm>
            <a:off x="7456215" y="1790818"/>
            <a:ext cx="31288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5D5D5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Example: the exponential distribution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F983D54-9CD9-43BD-C7C6-01D5AFF66E5A}"/>
              </a:ext>
            </a:extLst>
          </p:cNvPr>
          <p:cNvCxnSpPr/>
          <p:nvPr/>
        </p:nvCxnSpPr>
        <p:spPr>
          <a:xfrm flipV="1">
            <a:off x="7895105" y="3866228"/>
            <a:ext cx="0" cy="1095153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DB9EF03-9178-C89F-7E6E-44955CCEBD79}"/>
              </a:ext>
            </a:extLst>
          </p:cNvPr>
          <p:cNvCxnSpPr>
            <a:cxnSpLocks/>
          </p:cNvCxnSpPr>
          <p:nvPr/>
        </p:nvCxnSpPr>
        <p:spPr>
          <a:xfrm flipV="1">
            <a:off x="8179305" y="4352370"/>
            <a:ext cx="0" cy="609011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442EA49-E551-0A6A-A01C-C1AA1A249352}"/>
                  </a:ext>
                </a:extLst>
              </p:cNvPr>
              <p:cNvSpPr txBox="1"/>
              <p:nvPr/>
            </p:nvSpPr>
            <p:spPr>
              <a:xfrm>
                <a:off x="7458581" y="5387016"/>
                <a:ext cx="3126452" cy="42306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p>
                          <m:r>
                            <a:rPr lang="en-US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=0.5, 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</m:sup>
                          </m:sSup>
                          <m:r>
                            <a:rPr lang="en-US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442EA49-E551-0A6A-A01C-C1AA1A2493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8581" y="5387016"/>
                <a:ext cx="3126452" cy="4230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F2AAE69-BACC-114F-3577-5CC709BE3197}"/>
                  </a:ext>
                </a:extLst>
              </p14:cNvPr>
              <p14:cNvContentPartPr/>
              <p14:nvPr/>
            </p14:nvContentPartPr>
            <p14:xfrm>
              <a:off x="7753320" y="4179960"/>
              <a:ext cx="481320" cy="3319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F2AAE69-BACC-114F-3577-5CC709BE319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743960" y="4170600"/>
                <a:ext cx="500040" cy="350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96559842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29C52AC2-1986-655F-0FB2-8FB4B5667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">
            <a:extLst>
              <a:ext uri="{FF2B5EF4-FFF2-40B4-BE49-F238E27FC236}">
                <a16:creationId xmlns:a16="http://schemas.microsoft.com/office/drawing/2014/main" id="{ACEB6DD0-6A04-D741-625B-329CF50B13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46063" y="710027"/>
            <a:ext cx="9142537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 dirty="0"/>
              <a:t>Maximum Likelihood Estimation (MLE)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Google Shape;97;p7">
                <a:extLst>
                  <a:ext uri="{FF2B5EF4-FFF2-40B4-BE49-F238E27FC236}">
                    <a16:creationId xmlns:a16="http://schemas.microsoft.com/office/drawing/2014/main" id="{99C94509-5D89-CDD3-1BD3-BC2C5462F2B1}"/>
                  </a:ext>
                </a:extLst>
              </p:cNvPr>
              <p:cNvSpPr txBox="1">
                <a:spLocks noGrp="1"/>
              </p:cNvSpPr>
              <p:nvPr>
                <p:ph type="body" idx="2"/>
              </p:nvPr>
            </p:nvSpPr>
            <p:spPr>
              <a:xfrm>
                <a:off x="1246063" y="1636775"/>
                <a:ext cx="5484937" cy="45111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228600" indent="0">
                  <a:lnSpc>
                    <a:spcPct val="130000"/>
                  </a:lnSpc>
                </a:pPr>
                <a:r>
                  <a:rPr lang="en-US" sz="2400" dirty="0"/>
                  <a:t>Wait times are often modeled with the exponential distribution </a:t>
                </a:r>
              </a:p>
              <a:p>
                <a:pPr marL="228600" indent="0">
                  <a:lnSpc>
                    <a:spcPct val="130000"/>
                  </a:lnSpc>
                </a:pPr>
                <a:endParaRPr lang="en-US" sz="2400" dirty="0"/>
              </a:p>
              <a:p>
                <a:pPr marL="228600" indent="0">
                  <a:lnSpc>
                    <a:spcPct val="130000"/>
                  </a:lnSpc>
                </a:pPr>
                <a:r>
                  <a:rPr lang="en-US" sz="2400" dirty="0"/>
                  <a:t>Parameter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400" dirty="0"/>
                  <a:t> is 1/(mean wait time)</a:t>
                </a:r>
              </a:p>
              <a:p>
                <a:pPr marL="228600" indent="0">
                  <a:lnSpc>
                    <a:spcPct val="130000"/>
                  </a:lnSpc>
                </a:pPr>
                <a:endParaRPr lang="en-US" sz="2400" dirty="0"/>
              </a:p>
              <a:p>
                <a:pPr marL="228600" indent="0">
                  <a:lnSpc>
                    <a:spcPct val="130000"/>
                  </a:lnSpc>
                </a:pPr>
                <a:r>
                  <a:rPr lang="en-US" sz="2400" dirty="0"/>
                  <a:t>MLE: find the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400" dirty="0"/>
                  <a:t> that makes the observations as likely as possible (at the expense of times that we </a:t>
                </a:r>
                <a:r>
                  <a:rPr lang="en-US" sz="2400" i="1" dirty="0"/>
                  <a:t>didn’t</a:t>
                </a:r>
                <a:r>
                  <a:rPr lang="en-US" sz="2400" dirty="0"/>
                  <a:t> see)</a:t>
                </a:r>
              </a:p>
              <a:p>
                <a:pPr marL="228600" indent="0">
                  <a:lnSpc>
                    <a:spcPct val="130000"/>
                  </a:lnSpc>
                </a:pPr>
                <a:endParaRPr lang="en-US" sz="2400" dirty="0"/>
              </a:p>
              <a:p>
                <a:pPr marL="228600" indent="0">
                  <a:lnSpc>
                    <a:spcPct val="130000"/>
                  </a:lnSpc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Google Shape;97;p7">
                <a:extLst>
                  <a:ext uri="{FF2B5EF4-FFF2-40B4-BE49-F238E27FC236}">
                    <a16:creationId xmlns:a16="http://schemas.microsoft.com/office/drawing/2014/main" id="{99C94509-5D89-CDD3-1BD3-BC2C5462F2B1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xfrm>
                <a:off x="1246063" y="1636775"/>
                <a:ext cx="5484937" cy="45111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 descr="plot of the probability density function of the exponential distribution">
            <a:extLst>
              <a:ext uri="{FF2B5EF4-FFF2-40B4-BE49-F238E27FC236}">
                <a16:creationId xmlns:a16="http://schemas.microsoft.com/office/drawing/2014/main" id="{6C5C2F0C-598E-88DE-B263-811A57F1A7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8387" y="2498704"/>
            <a:ext cx="3545821" cy="2836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6160A35-D203-2A7A-F298-A30CD081DD7A}"/>
              </a:ext>
            </a:extLst>
          </p:cNvPr>
          <p:cNvSpPr txBox="1"/>
          <p:nvPr/>
        </p:nvSpPr>
        <p:spPr>
          <a:xfrm>
            <a:off x="7456215" y="1790818"/>
            <a:ext cx="31288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5D5D5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Example: the exponential distribution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B7C4840-D491-2FD7-32B1-B6A06EB5ED4D}"/>
              </a:ext>
            </a:extLst>
          </p:cNvPr>
          <p:cNvCxnSpPr/>
          <p:nvPr/>
        </p:nvCxnSpPr>
        <p:spPr>
          <a:xfrm flipV="1">
            <a:off x="7895105" y="3866228"/>
            <a:ext cx="0" cy="1095153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0C64285-DCE4-DDE2-422F-A5D5A1CB967B}"/>
              </a:ext>
            </a:extLst>
          </p:cNvPr>
          <p:cNvCxnSpPr>
            <a:cxnSpLocks/>
          </p:cNvCxnSpPr>
          <p:nvPr/>
        </p:nvCxnSpPr>
        <p:spPr>
          <a:xfrm flipV="1">
            <a:off x="8179305" y="4352370"/>
            <a:ext cx="0" cy="609011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5B9CCF1-5250-3E94-E382-78810792FDFB}"/>
                  </a:ext>
                </a:extLst>
              </p:cNvPr>
              <p:cNvSpPr txBox="1"/>
              <p:nvPr/>
            </p:nvSpPr>
            <p:spPr>
              <a:xfrm>
                <a:off x="7458581" y="5387016"/>
                <a:ext cx="3126452" cy="42306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p>
                          <m:r>
                            <a:rPr lang="en-US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=0.5, 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</m:sup>
                          </m:sSup>
                          <m:r>
                            <a:rPr lang="en-US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442EA49-E551-0A6A-A01C-C1AA1A2493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8581" y="5387016"/>
                <a:ext cx="3126452" cy="4230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8DD2D6B-B227-8999-EC69-A6E7627A984F}"/>
                  </a:ext>
                </a:extLst>
              </p14:cNvPr>
              <p14:cNvContentPartPr/>
              <p14:nvPr/>
            </p14:nvContentPartPr>
            <p14:xfrm>
              <a:off x="7753320" y="4179960"/>
              <a:ext cx="481320" cy="3319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F2AAE69-BACC-114F-3577-5CC709BE319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743960" y="4170600"/>
                <a:ext cx="500040" cy="350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58060913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"/>
          <p:cNvSpPr txBox="1">
            <a:spLocks noGrp="1"/>
          </p:cNvSpPr>
          <p:nvPr>
            <p:ph type="body" idx="1"/>
          </p:nvPr>
        </p:nvSpPr>
        <p:spPr>
          <a:xfrm>
            <a:off x="1246063" y="710027"/>
            <a:ext cx="9142537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 dirty="0"/>
              <a:t>Maximum Likelihood Estimation (MLE)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Google Shape;97;p7">
                <a:extLst>
                  <a:ext uri="{FF2B5EF4-FFF2-40B4-BE49-F238E27FC236}">
                    <a16:creationId xmlns:a16="http://schemas.microsoft.com/office/drawing/2014/main" id="{2C2CEAAF-2DAF-0AFE-6E28-303D0127107E}"/>
                  </a:ext>
                </a:extLst>
              </p:cNvPr>
              <p:cNvSpPr txBox="1">
                <a:spLocks noGrp="1"/>
              </p:cNvSpPr>
              <p:nvPr>
                <p:ph type="body" idx="2"/>
              </p:nvPr>
            </p:nvSpPr>
            <p:spPr>
              <a:xfrm>
                <a:off x="1246063" y="1636776"/>
                <a:ext cx="5484937" cy="30677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228600" indent="0">
                  <a:lnSpc>
                    <a:spcPct val="130000"/>
                  </a:lnSpc>
                </a:pPr>
                <a:r>
                  <a:rPr lang="en-US" sz="2400" dirty="0"/>
                  <a:t>Wait times are often modeled with the exponential distribution </a:t>
                </a:r>
              </a:p>
              <a:p>
                <a:pPr marL="228600" indent="0">
                  <a:lnSpc>
                    <a:spcPct val="130000"/>
                  </a:lnSpc>
                </a:pPr>
                <a:endParaRPr lang="en-US" sz="2400" dirty="0"/>
              </a:p>
              <a:p>
                <a:pPr marL="228600" indent="0">
                  <a:lnSpc>
                    <a:spcPct val="130000"/>
                  </a:lnSpc>
                </a:pPr>
                <a:r>
                  <a:rPr lang="en-US" sz="2400" dirty="0"/>
                  <a:t>Parameter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400" dirty="0"/>
                  <a:t> is 1/(mean wait time)</a:t>
                </a:r>
              </a:p>
              <a:p>
                <a:pPr marL="228600" indent="0">
                  <a:lnSpc>
                    <a:spcPct val="130000"/>
                  </a:lnSpc>
                </a:pPr>
                <a:endParaRPr lang="en-US" sz="2400" dirty="0"/>
              </a:p>
              <a:p>
                <a:pPr marL="228600" indent="0">
                  <a:lnSpc>
                    <a:spcPct val="130000"/>
                  </a:lnSpc>
                </a:pPr>
                <a:r>
                  <a:rPr lang="en-US" sz="2400" dirty="0"/>
                  <a:t>MLE: find the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400" dirty="0"/>
                  <a:t> that makes the observations as likely as possible (at the expense of times that we </a:t>
                </a:r>
                <a:r>
                  <a:rPr lang="en-US" sz="2400" i="1" dirty="0"/>
                  <a:t>didn’t</a:t>
                </a:r>
                <a:r>
                  <a:rPr lang="en-US" sz="2400" dirty="0"/>
                  <a:t> see)</a:t>
                </a:r>
              </a:p>
              <a:p>
                <a:pPr marL="228600" indent="0">
                  <a:lnSpc>
                    <a:spcPct val="130000"/>
                  </a:lnSpc>
                </a:pPr>
                <a:endParaRPr lang="en-US" sz="2400" dirty="0"/>
              </a:p>
              <a:p>
                <a:pPr marL="228600" indent="0">
                  <a:lnSpc>
                    <a:spcPct val="130000"/>
                  </a:lnSpc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Google Shape;97;p7">
                <a:extLst>
                  <a:ext uri="{FF2B5EF4-FFF2-40B4-BE49-F238E27FC236}">
                    <a16:creationId xmlns:a16="http://schemas.microsoft.com/office/drawing/2014/main" id="{2C2CEAAF-2DAF-0AFE-6E28-303D0127107E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xfrm>
                <a:off x="1246063" y="1636776"/>
                <a:ext cx="5484937" cy="3067748"/>
              </a:xfrm>
              <a:prstGeom prst="rect">
                <a:avLst/>
              </a:prstGeom>
              <a:blipFill>
                <a:blip r:embed="rId3"/>
                <a:stretch>
                  <a:fillRect b="-3016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 descr="plot of the probability density function of the exponential distribution">
            <a:extLst>
              <a:ext uri="{FF2B5EF4-FFF2-40B4-BE49-F238E27FC236}">
                <a16:creationId xmlns:a16="http://schemas.microsoft.com/office/drawing/2014/main" id="{AD07D1CE-2C88-5F27-6453-719994D0CF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8387" y="2498704"/>
            <a:ext cx="3545821" cy="2836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E2AA9D9-6F57-DD29-E287-306D1BF6B4A2}"/>
              </a:ext>
            </a:extLst>
          </p:cNvPr>
          <p:cNvSpPr txBox="1"/>
          <p:nvPr/>
        </p:nvSpPr>
        <p:spPr>
          <a:xfrm>
            <a:off x="7456215" y="1790818"/>
            <a:ext cx="31288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5D5D5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Example: the exponential 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442EA49-E551-0A6A-A01C-C1AA1A249352}"/>
                  </a:ext>
                </a:extLst>
              </p:cNvPr>
              <p:cNvSpPr txBox="1"/>
              <p:nvPr/>
            </p:nvSpPr>
            <p:spPr>
              <a:xfrm>
                <a:off x="7458581" y="5387016"/>
                <a:ext cx="3126452" cy="42306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p>
                          <m:r>
                            <a:rPr lang="en-US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=2, 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</m:sup>
                          </m:sSup>
                          <m:r>
                            <a:rPr lang="en-US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=3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442EA49-E551-0A6A-A01C-C1AA1A2493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8581" y="5387016"/>
                <a:ext cx="3126452" cy="4230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40C619E-695A-70F6-DA7D-A9BE9DD47997}"/>
              </a:ext>
            </a:extLst>
          </p:cNvPr>
          <p:cNvCxnSpPr>
            <a:cxnSpLocks/>
          </p:cNvCxnSpPr>
          <p:nvPr/>
        </p:nvCxnSpPr>
        <p:spPr>
          <a:xfrm flipV="1">
            <a:off x="8742512" y="4606099"/>
            <a:ext cx="0" cy="345432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99A30FB-9DA7-44AC-9824-CE3EA3E95C16}"/>
              </a:ext>
            </a:extLst>
          </p:cNvPr>
          <p:cNvCxnSpPr>
            <a:cxnSpLocks/>
          </p:cNvCxnSpPr>
          <p:nvPr/>
        </p:nvCxnSpPr>
        <p:spPr>
          <a:xfrm flipV="1">
            <a:off x="9303057" y="4704524"/>
            <a:ext cx="0" cy="247007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BF14007-451C-F2A7-7842-70B968051234}"/>
                  </a:ext>
                </a:extLst>
              </p14:cNvPr>
              <p14:cNvContentPartPr/>
              <p14:nvPr/>
            </p14:nvContentPartPr>
            <p14:xfrm>
              <a:off x="8685720" y="4321080"/>
              <a:ext cx="782280" cy="3150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BF14007-451C-F2A7-7842-70B96805123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676360" y="4311720"/>
                <a:ext cx="801000" cy="333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44385618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7D2817F-F831-7AF5-BBD0-0111BF25E2B1}"/>
                  </a:ext>
                </a:extLst>
              </p:cNvPr>
              <p:cNvSpPr>
                <a:spLocks noGrp="1"/>
              </p:cNvSpPr>
              <p:nvPr>
                <p:ph type="body" idx="2"/>
              </p:nvPr>
            </p:nvSpPr>
            <p:spPr>
              <a:xfrm>
                <a:off x="1246063" y="1634645"/>
                <a:ext cx="9177402" cy="3588710"/>
              </a:xfrm>
            </p:spPr>
            <p:txBody>
              <a:bodyPr>
                <a:normAutofit fontScale="92500"/>
              </a:bodyPr>
              <a:lstStyle/>
              <a:p>
                <a:pPr marL="5715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The pdf of the exponential distribution is </a:t>
                </a:r>
              </a:p>
              <a:p>
                <a:pPr marL="0" indent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sSup>
                        <m:sSupPr>
                          <m:ctrlPr>
                            <a:rPr lang="en-US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5715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Given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iid samples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d>
                              <m:dPr>
                                <m:ctrlP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sup>
                        </m:sSup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, …, </m:t>
                        </m:r>
                        <m:sSup>
                          <m:sSupPr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d>
                              <m:dPr>
                                <m:ctrlP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</m:d>
                          </m:sup>
                        </m:sSup>
                      </m:e>
                    </m:d>
                  </m:oMath>
                </a14:m>
                <a:r>
                  <a:rPr lang="en-US" dirty="0"/>
                  <a:t>, the likelihood is</a:t>
                </a:r>
              </a:p>
              <a:p>
                <a:pPr marL="469900" indent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d>
                        </m:e>
                      </m:nary>
                      <m:r>
                        <a:rPr lang="en-US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d>
                                </m:sup>
                              </m:sSup>
                            </m:sup>
                          </m:sSup>
                        </m:e>
                      </m:nary>
                      <m:r>
                        <a:rPr lang="en-US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unc>
                            <m:func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func>
                          <m: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</m:nary>
                      <m:func>
                        <m:func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p>
                            <m:sSup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sSup>
                                <m:sSupPr>
                                  <m:ctrlPr>
                                    <a:rPr lang="en-US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d>
                                </m:sup>
                              </m:sSup>
                            </m:sup>
                          </m:sSup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7D2817F-F831-7AF5-BBD0-0111BF25E2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xfrm>
                <a:off x="1246063" y="1634645"/>
                <a:ext cx="9177402" cy="3588710"/>
              </a:xfrm>
              <a:blipFill>
                <a:blip r:embed="rId2"/>
                <a:stretch>
                  <a:fillRect l="-4282" t="-1408" b="-549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304183E-C28F-3F52-36B2-BB0D6D1FF2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Exponential Distribution MLE</a:t>
            </a:r>
          </a:p>
        </p:txBody>
      </p:sp>
    </p:spTree>
    <p:extLst>
      <p:ext uri="{BB962C8B-B14F-4D97-AF65-F5344CB8AC3E}">
        <p14:creationId xmlns:p14="http://schemas.microsoft.com/office/powerpoint/2010/main" val="35392298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1D33AE-A247-1C79-33DA-6FB8FF70BB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Whiteboard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C560BE-B402-20E7-7BFB-B17D89E8482A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F5FBF6-44C9-173B-A98A-FCCF19ED4D7F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Converting to log-likelihood and finding the MLE</a:t>
            </a:r>
          </a:p>
        </p:txBody>
      </p:sp>
    </p:spTree>
    <p:extLst>
      <p:ext uri="{BB962C8B-B14F-4D97-AF65-F5344CB8AC3E}">
        <p14:creationId xmlns:p14="http://schemas.microsoft.com/office/powerpoint/2010/main" val="38751065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7D2817F-F831-7AF5-BBD0-0111BF25E2B1}"/>
                  </a:ext>
                </a:extLst>
              </p:cNvPr>
              <p:cNvSpPr>
                <a:spLocks noGrp="1"/>
              </p:cNvSpPr>
              <p:nvPr>
                <p:ph type="body" idx="2"/>
              </p:nvPr>
            </p:nvSpPr>
            <p:spPr>
              <a:xfrm>
                <a:off x="1246063" y="1634645"/>
                <a:ext cx="9177402" cy="3588710"/>
              </a:xfrm>
            </p:spPr>
            <p:txBody>
              <a:bodyPr>
                <a:normAutofit fontScale="85000" lnSpcReduction="10000"/>
              </a:bodyPr>
              <a:lstStyle/>
              <a:p>
                <a:pPr marL="571500" indent="-34290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The pdf of the exponential distribution is </a:t>
                </a:r>
              </a:p>
              <a:p>
                <a:pPr marL="0" indent="0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571500" indent="-34290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Given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iid samples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d>
                              <m:dPr>
                                <m:ctrlP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sup>
                        </m:sSup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, …, </m:t>
                        </m:r>
                        <m:sSup>
                          <m:sSupPr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d>
                              <m:dPr>
                                <m:ctrlP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</m:d>
                          </m:sup>
                        </m:sSup>
                      </m:e>
                    </m:d>
                  </m:oMath>
                </a14:m>
                <a:r>
                  <a:rPr lang="en-US" dirty="0"/>
                  <a:t>, the log-likelihood is</a:t>
                </a:r>
              </a:p>
              <a:p>
                <a:pPr marL="469900" indent="0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ℓ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unc>
                            <m:funcPr>
                              <m:ctrlP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</m:sup>
                                  </m:sSup>
                                  <m: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</m:d>
                            </m:e>
                          </m:func>
                        </m:e>
                      </m:nary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unc>
                            <m:funcPr>
                              <m:ctrlP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  <m:sSup>
                                    <m:sSupPr>
                                      <m:ctrlPr>
                                        <a:rPr lang="en-US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</m:sup>
                                  </m:sSup>
                                </m:sup>
                              </m:sSup>
                            </m:e>
                          </m:func>
                        </m:e>
                      </m:nary>
                    </m:oMath>
                  </m:oMathPara>
                </a14:m>
                <a:endParaRPr lang="en-US" dirty="0"/>
              </a:p>
              <a:p>
                <a:pPr marL="469900" indent="0"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ℓ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unc>
                            <m:funcPr>
                              <m:ctrlP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func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</m:nary>
                      <m:func>
                        <m:func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d>
                                </m:sup>
                              </m:sSup>
                            </m:sup>
                          </m:sSup>
                        </m:e>
                      </m:func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func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nary>
                        <m:naryPr>
                          <m:chr m:val="∑"/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7D2817F-F831-7AF5-BBD0-0111BF25E2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xfrm>
                <a:off x="1246063" y="1634645"/>
                <a:ext cx="9177402" cy="3588710"/>
              </a:xfrm>
              <a:blipFill>
                <a:blip r:embed="rId2"/>
                <a:stretch>
                  <a:fillRect t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304183E-C28F-3F52-36B2-BB0D6D1FF2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Exponential Distribution MLE</a:t>
            </a:r>
          </a:p>
        </p:txBody>
      </p:sp>
    </p:spTree>
    <p:extLst>
      <p:ext uri="{BB962C8B-B14F-4D97-AF65-F5344CB8AC3E}">
        <p14:creationId xmlns:p14="http://schemas.microsoft.com/office/powerpoint/2010/main" val="41907057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7D2817F-F831-7AF5-BBD0-0111BF25E2B1}"/>
                  </a:ext>
                </a:extLst>
              </p:cNvPr>
              <p:cNvSpPr>
                <a:spLocks noGrp="1"/>
              </p:cNvSpPr>
              <p:nvPr>
                <p:ph type="body" idx="2"/>
              </p:nvPr>
            </p:nvSpPr>
            <p:spPr>
              <a:xfrm>
                <a:off x="1246063" y="1634645"/>
                <a:ext cx="9177402" cy="3588710"/>
              </a:xfrm>
            </p:spPr>
            <p:txBody>
              <a:bodyPr>
                <a:noAutofit/>
              </a:bodyPr>
              <a:lstStyle/>
              <a:p>
                <a:pPr marL="5715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The pdf of the exponential distribution is </a:t>
                </a:r>
              </a:p>
              <a:p>
                <a:pPr marL="0" indent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sSup>
                        <m:sSupPr>
                          <m:ctrlPr>
                            <a:rPr lang="en-US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5715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We can solve for the optimal value of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 by taking the partial derivative of the log-likelihood and setting it equal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469900" indent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ℓ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func>
                        <m:func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func>
                      <m:r>
                        <a:rPr lang="en-US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nary>
                        <m:naryPr>
                          <m:chr m:val="∑"/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sup>
                          </m:sSup>
                        </m:e>
                      </m:nary>
                    </m:oMath>
                  </m:oMathPara>
                </a14:m>
                <a:endParaRPr lang="en-US" i="1" dirty="0">
                  <a:solidFill>
                    <a:schemeClr val="accent1"/>
                  </a:solidFill>
                  <a:latin typeface="Cambria Math" panose="02040503050406030204" pitchFamily="18" charset="0"/>
                </a:endParaRPr>
              </a:p>
              <a:p>
                <a:pPr marL="469900" indent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𝜕𝜆</m:t>
                          </m:r>
                        </m:den>
                      </m:f>
                      <m:r>
                        <a:rPr lang="en-US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  <m:r>
                        <a:rPr lang="en-US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sup>
                          </m:sSup>
                        </m:e>
                      </m:nary>
                    </m:oMath>
                    <m:oMath xmlns:m="http://schemas.openxmlformats.org/officeDocument/2006/math">
                      <m:r>
                        <a:rPr lang="en-US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     →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acc>
                            <m:accPr>
                              <m:chr m:val="̂"/>
                              <m:ctrlP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acc>
                        </m:den>
                      </m:f>
                      <m:r>
                        <a:rPr lang="en-US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sup>
                          </m:sSup>
                        </m:e>
                      </m:nary>
                      <m:r>
                        <a:rPr lang="en-US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=0→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acc>
                            <m:accPr>
                              <m:chr m:val="̂"/>
                              <m:ctrlP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acc>
                        </m:den>
                      </m:f>
                      <m:r>
                        <a:rPr lang="en-US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sup>
                          </m:sSup>
                        </m:e>
                      </m:nary>
                      <m:r>
                        <a:rPr lang="en-US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acc>
                        <m:accPr>
                          <m:chr m:val="̂"/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acc>
                      <m:r>
                        <a:rPr lang="en-US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7D2817F-F831-7AF5-BBD0-0111BF25E2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xfrm>
                <a:off x="1246063" y="1634645"/>
                <a:ext cx="9177402" cy="3588710"/>
              </a:xfrm>
              <a:blipFill>
                <a:blip r:embed="rId2"/>
                <a:stretch>
                  <a:fillRect t="-704" b="-496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304183E-C28F-3F52-36B2-BB0D6D1FF2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Exponential Distribution MLE</a:t>
            </a:r>
          </a:p>
        </p:txBody>
      </p:sp>
    </p:spTree>
    <p:extLst>
      <p:ext uri="{BB962C8B-B14F-4D97-AF65-F5344CB8AC3E}">
        <p14:creationId xmlns:p14="http://schemas.microsoft.com/office/powerpoint/2010/main" val="28524721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7D2817F-F831-7AF5-BBD0-0111BF25E2B1}"/>
                  </a:ext>
                </a:extLst>
              </p:cNvPr>
              <p:cNvSpPr>
                <a:spLocks noGrp="1"/>
              </p:cNvSpPr>
              <p:nvPr>
                <p:ph type="body" idx="2"/>
              </p:nvPr>
            </p:nvSpPr>
            <p:spPr>
              <a:xfrm>
                <a:off x="1246063" y="1634645"/>
                <a:ext cx="9177402" cy="3588710"/>
              </a:xfrm>
            </p:spPr>
            <p:txBody>
              <a:bodyPr>
                <a:noAutofit/>
              </a:bodyPr>
              <a:lstStyle/>
              <a:p>
                <a:pPr marL="5715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The pdf of the exponential distribution is </a:t>
                </a:r>
              </a:p>
              <a:p>
                <a:pPr marL="0" indent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24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4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sz="240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sSup>
                        <m:sSupPr>
                          <m:ctrlPr>
                            <a:rPr lang="en-US" sz="24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sz="24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  <a:p>
                <a:pPr marL="5715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We can solve for the optimal value of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400" dirty="0"/>
                  <a:t> by taking the partial derivative of the log-likelihood and setting it equal 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dirty="0"/>
                  <a:t>:</a:t>
                </a:r>
              </a:p>
              <a:p>
                <a:pPr marL="469900" indent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ℓ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sz="2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func>
                        <m:funcPr>
                          <m:ctrlP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func>
                      <m:r>
                        <a:rPr lang="en-US" sz="2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nary>
                        <m:naryPr>
                          <m:chr m:val="∑"/>
                          <m:ctrlP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i="1" dirty="0">
                  <a:solidFill>
                    <a:schemeClr val="accent1"/>
                  </a:solidFill>
                  <a:latin typeface="Cambria Math" panose="02040503050406030204" pitchFamily="18" charset="0"/>
                </a:endParaRPr>
              </a:p>
              <a:p>
                <a:pPr marL="469900" indent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𝜕𝜆</m:t>
                          </m:r>
                        </m:den>
                      </m:f>
                      <m:r>
                        <a:rPr lang="en-US" sz="2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  <m:r>
                        <a:rPr lang="en-US" sz="2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sup>
                          </m:sSup>
                        </m:e>
                      </m:nary>
                    </m:oMath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     →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acc>
                            <m:accPr>
                              <m:chr m:val="̂"/>
                              <m:ctrlP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acc>
                        </m:den>
                      </m:f>
                      <m:r>
                        <a:rPr lang="en-US" sz="2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sup>
                          </m:sSup>
                        </m:e>
                      </m:nary>
                      <m:r>
                        <a:rPr lang="en-US" sz="2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=0→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acc>
                            <m:accPr>
                              <m:chr m:val="̂"/>
                              <m:ctrlP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acc>
                        </m:den>
                      </m:f>
                      <m:r>
                        <a:rPr lang="en-US" sz="2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sup>
                          </m:sSup>
                        </m:e>
                      </m:nary>
                      <m:r>
                        <a:rPr lang="en-US" sz="2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acc>
                        <m:accPr>
                          <m:chr m:val="̂"/>
                          <m:ctrlP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acc>
                      <m:r>
                        <a:rPr lang="en-US" sz="2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24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7D2817F-F831-7AF5-BBD0-0111BF25E2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xfrm>
                <a:off x="1246063" y="1634645"/>
                <a:ext cx="9177402" cy="3588710"/>
              </a:xfrm>
              <a:blipFill>
                <a:blip r:embed="rId2"/>
                <a:stretch>
                  <a:fillRect t="-1408" b="-799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304183E-C28F-3F52-36B2-BB0D6D1FF2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Exponential Distribution MLE</a:t>
            </a:r>
          </a:p>
        </p:txBody>
      </p:sp>
    </p:spTree>
    <p:extLst>
      <p:ext uri="{BB962C8B-B14F-4D97-AF65-F5344CB8AC3E}">
        <p14:creationId xmlns:p14="http://schemas.microsoft.com/office/powerpoint/2010/main" val="25034433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04076E6-7E2B-4115-5FBC-2F9FF8D9FF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Another 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AC66BE-FC8F-F152-08A9-24DA25FC46ED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9A685F-ED5D-5B36-F018-68425F7D3557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MLE of the univariate Gaussian distribution</a:t>
            </a:r>
          </a:p>
        </p:txBody>
      </p:sp>
    </p:spTree>
    <p:extLst>
      <p:ext uri="{BB962C8B-B14F-4D97-AF65-F5344CB8AC3E}">
        <p14:creationId xmlns:p14="http://schemas.microsoft.com/office/powerpoint/2010/main" val="40407360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1F1E7E8-A5A3-2FF5-2386-EB4ADD8714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Bayes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A3DB402-D9B4-108D-1638-7DE3052E5C0C}"/>
                  </a:ext>
                </a:extLst>
              </p:cNvPr>
              <p:cNvSpPr>
                <a:spLocks noGrp="1"/>
              </p:cNvSpPr>
              <p:nvPr>
                <p:ph type="body" idx="2"/>
              </p:nvPr>
            </p:nvSpPr>
            <p:spPr/>
            <p:txBody>
              <a:bodyPr/>
              <a:lstStyle/>
              <a:p>
                <a:r>
                  <a:rPr lang="en-US" dirty="0"/>
                  <a:t>Another way of updating beliefs based on evidence</a:t>
                </a:r>
              </a:p>
              <a:p>
                <a:endParaRPr lang="en-US" dirty="0"/>
              </a:p>
              <a:p>
                <a:r>
                  <a:rPr lang="en-US" sz="3600" dirty="0"/>
                  <a:t>Statement: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sz="3600" dirty="0"/>
                  <a:t> 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A3DB402-D9B4-108D-1638-7DE3052E5C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blipFill>
                <a:blip r:embed="rId2"/>
                <a:stretch>
                  <a:fillRect t="-19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E50176-3F87-DB47-ACBB-49200E84C203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>
            <a:normAutofit fontScale="85000" lnSpcReduction="20000"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64914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8D9DE9C-A8EB-CC02-5301-6BBC67A2C3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Bayes theorem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F1E8B3-D0E1-AD21-973E-E84105ACF2C8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Suppose that a bag has two coins: one fair and one unfair. For the unfair coin, p(heads) = 0.7</a:t>
            </a:r>
          </a:p>
          <a:p>
            <a:endParaRPr lang="en-US" dirty="0"/>
          </a:p>
          <a:p>
            <a:r>
              <a:rPr lang="en-US" dirty="0"/>
              <a:t>I take a coin out of the bag and start flipping it. Based on the results, I want to determine whether it is fair or unfair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0ECE04-28E9-55ED-D785-A224FF7B9EFA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>
            <a:normAutofit fontScale="85000" lnSpcReduction="20000"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49630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5A45A53-0C0E-F62F-FF5F-96574F71D8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Bayes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EF25CBC-6AC3-F0A8-DBAB-A453E0124EAE}"/>
                  </a:ext>
                </a:extLst>
              </p:cNvPr>
              <p:cNvSpPr>
                <a:spLocks noGrp="1"/>
              </p:cNvSpPr>
              <p:nvPr>
                <p:ph type="body" idx="2"/>
              </p:nvPr>
            </p:nvSpPr>
            <p:spPr/>
            <p:txBody>
              <a:bodyPr/>
              <a:lstStyle/>
              <a:p>
                <a:r>
                  <a:rPr lang="en-US" dirty="0"/>
                  <a:t>To start with,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fair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lang="en-US" dirty="0"/>
                  <a:t> since both are equally likely</a:t>
                </a:r>
              </a:p>
              <a:p>
                <a:endParaRPr lang="en-US" dirty="0"/>
              </a:p>
              <a:p>
                <a:r>
                  <a:rPr lang="en-US" dirty="0"/>
                  <a:t>Now, suppose I flip and get a heads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EF25CBC-6AC3-F0A8-DBAB-A453E0124E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blipFill>
                <a:blip r:embed="rId2"/>
                <a:stretch>
                  <a:fillRect t="-19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776714-DB38-4E66-3F31-248E3268BD21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>
            <a:normAutofit fontScale="85000" lnSpcReduction="20000"/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27B6A4-11A6-1DC4-28BE-6D7D4B7A27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2088" y="3816042"/>
            <a:ext cx="9256889" cy="674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2309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B6C693F-72B9-3528-B324-10084CF96E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Bayes theorem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10D365-DB7A-D13F-ADCF-A66C5ED3D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469" y="2515467"/>
            <a:ext cx="2529598" cy="12851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E51DEE6-A61D-6591-50D3-614124C607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7724" y="2592304"/>
            <a:ext cx="2949222" cy="12083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092BA17-985C-B671-D83C-08A2551E09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7603" y="2592304"/>
            <a:ext cx="5324396" cy="128519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AACA22C-5D24-65C7-B96D-C5ECDE300A03}"/>
                  </a:ext>
                </a:extLst>
              </p:cNvPr>
              <p:cNvSpPr txBox="1"/>
              <p:nvPr/>
            </p:nvSpPr>
            <p:spPr>
              <a:xfrm>
                <a:off x="970401" y="2099861"/>
                <a:ext cx="127618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3200" b="0" i="0" smtClean="0">
                          <a:latin typeface="Cambria Math" panose="02040503050406030204" pitchFamily="18" charset="0"/>
                        </a:rPr>
                        <m:t>fair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AACA22C-5D24-65C7-B96D-C5ECDE300A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401" y="2099861"/>
                <a:ext cx="1276183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7481A65-FA21-ABC2-6BFD-7D3887A4357E}"/>
                  </a:ext>
                </a:extLst>
              </p:cNvPr>
              <p:cNvSpPr txBox="1"/>
              <p:nvPr/>
            </p:nvSpPr>
            <p:spPr>
              <a:xfrm>
                <a:off x="4048215" y="2099861"/>
                <a:ext cx="1276183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3200" b="0" i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3200" b="0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sty m:val="p"/>
                        </m:rPr>
                        <a:rPr lang="en-US" sz="3200" b="0" i="0" smtClean="0">
                          <a:latin typeface="Cambria Math" panose="02040503050406030204" pitchFamily="18" charset="0"/>
                        </a:rPr>
                        <m:t>fair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7481A65-FA21-ABC2-6BFD-7D3887A435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8215" y="2099861"/>
                <a:ext cx="1276183" cy="492443"/>
              </a:xfrm>
              <a:prstGeom prst="rect">
                <a:avLst/>
              </a:prstGeom>
              <a:blipFill>
                <a:blip r:embed="rId6"/>
                <a:stretch>
                  <a:fillRect r="-220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2462D85-0E99-3B13-2CBE-565CC72C102D}"/>
                  </a:ext>
                </a:extLst>
              </p:cNvPr>
              <p:cNvSpPr txBox="1"/>
              <p:nvPr/>
            </p:nvSpPr>
            <p:spPr>
              <a:xfrm>
                <a:off x="7305060" y="2023024"/>
                <a:ext cx="1276183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3200" b="0" i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3200" b="0" i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3200" b="0" i="0" smtClean="0">
                          <a:latin typeface="Cambria Math" panose="02040503050406030204" pitchFamily="18" charset="0"/>
                        </a:rPr>
                        <m:t>fair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2462D85-0E99-3B13-2CBE-565CC72C10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5060" y="2023024"/>
                <a:ext cx="1276183" cy="492443"/>
              </a:xfrm>
              <a:prstGeom prst="rect">
                <a:avLst/>
              </a:prstGeom>
              <a:blipFill>
                <a:blip r:embed="rId7"/>
                <a:stretch>
                  <a:fillRect r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28EEEF2-5934-98BE-DF33-06623FC3D52E}"/>
                  </a:ext>
                </a:extLst>
              </p:cNvPr>
              <p:cNvSpPr txBox="1"/>
              <p:nvPr/>
            </p:nvSpPr>
            <p:spPr>
              <a:xfrm>
                <a:off x="2424304" y="2911844"/>
                <a:ext cx="1276183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28EEEF2-5934-98BE-DF33-06623FC3D5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4304" y="2911844"/>
                <a:ext cx="1276183" cy="4924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CFC0DD2-04AC-BF27-5260-B37E14BA4F3F}"/>
                  </a:ext>
                </a:extLst>
              </p:cNvPr>
              <p:cNvSpPr txBox="1"/>
              <p:nvPr/>
            </p:nvSpPr>
            <p:spPr>
              <a:xfrm>
                <a:off x="5947289" y="2911843"/>
                <a:ext cx="1276183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CFC0DD2-04AC-BF27-5260-B37E14BA4F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7289" y="2911843"/>
                <a:ext cx="1276183" cy="49244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06164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B6C693F-72B9-3528-B324-10084CF96E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Bayes theorem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10D365-DB7A-D13F-ADCF-A66C5ED3D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469" y="2515467"/>
            <a:ext cx="2529598" cy="12851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E51DEE6-A61D-6591-50D3-614124C607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7724" y="2592304"/>
            <a:ext cx="2949222" cy="12083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092BA17-985C-B671-D83C-08A2551E09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7603" y="2592304"/>
            <a:ext cx="5324396" cy="128519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AACA22C-5D24-65C7-B96D-C5ECDE300A03}"/>
                  </a:ext>
                </a:extLst>
              </p:cNvPr>
              <p:cNvSpPr txBox="1"/>
              <p:nvPr/>
            </p:nvSpPr>
            <p:spPr>
              <a:xfrm>
                <a:off x="970401" y="2099861"/>
                <a:ext cx="127618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3200" b="0" i="0" smtClean="0">
                          <a:latin typeface="Cambria Math" panose="02040503050406030204" pitchFamily="18" charset="0"/>
                        </a:rPr>
                        <m:t>fair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AACA22C-5D24-65C7-B96D-C5ECDE300A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401" y="2099861"/>
                <a:ext cx="1276183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7481A65-FA21-ABC2-6BFD-7D3887A4357E}"/>
                  </a:ext>
                </a:extLst>
              </p:cNvPr>
              <p:cNvSpPr txBox="1"/>
              <p:nvPr/>
            </p:nvSpPr>
            <p:spPr>
              <a:xfrm>
                <a:off x="4048215" y="2099861"/>
                <a:ext cx="1276183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3200" b="0" i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3200" b="0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sty m:val="p"/>
                        </m:rPr>
                        <a:rPr lang="en-US" sz="3200" b="0" i="0" smtClean="0">
                          <a:latin typeface="Cambria Math" panose="02040503050406030204" pitchFamily="18" charset="0"/>
                        </a:rPr>
                        <m:t>fair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7481A65-FA21-ABC2-6BFD-7D3887A435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8215" y="2099861"/>
                <a:ext cx="1276183" cy="492443"/>
              </a:xfrm>
              <a:prstGeom prst="rect">
                <a:avLst/>
              </a:prstGeom>
              <a:blipFill>
                <a:blip r:embed="rId6"/>
                <a:stretch>
                  <a:fillRect r="-220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2462D85-0E99-3B13-2CBE-565CC72C102D}"/>
                  </a:ext>
                </a:extLst>
              </p:cNvPr>
              <p:cNvSpPr txBox="1"/>
              <p:nvPr/>
            </p:nvSpPr>
            <p:spPr>
              <a:xfrm>
                <a:off x="7305060" y="2023024"/>
                <a:ext cx="1276183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3200" b="0" i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3200" b="0" i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3200" b="0" i="0" smtClean="0">
                          <a:latin typeface="Cambria Math" panose="02040503050406030204" pitchFamily="18" charset="0"/>
                        </a:rPr>
                        <m:t>fair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2462D85-0E99-3B13-2CBE-565CC72C10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5060" y="2023024"/>
                <a:ext cx="1276183" cy="492443"/>
              </a:xfrm>
              <a:prstGeom prst="rect">
                <a:avLst/>
              </a:prstGeom>
              <a:blipFill>
                <a:blip r:embed="rId7"/>
                <a:stretch>
                  <a:fillRect r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28EEEF2-5934-98BE-DF33-06623FC3D52E}"/>
                  </a:ext>
                </a:extLst>
              </p:cNvPr>
              <p:cNvSpPr txBox="1"/>
              <p:nvPr/>
            </p:nvSpPr>
            <p:spPr>
              <a:xfrm>
                <a:off x="2424304" y="2911844"/>
                <a:ext cx="1276183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28EEEF2-5934-98BE-DF33-06623FC3D5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4304" y="2911844"/>
                <a:ext cx="1276183" cy="4924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CFC0DD2-04AC-BF27-5260-B37E14BA4F3F}"/>
                  </a:ext>
                </a:extLst>
              </p:cNvPr>
              <p:cNvSpPr txBox="1"/>
              <p:nvPr/>
            </p:nvSpPr>
            <p:spPr>
              <a:xfrm>
                <a:off x="5947289" y="2911843"/>
                <a:ext cx="1276183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CFC0DD2-04AC-BF27-5260-B37E14BA4F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7289" y="2911843"/>
                <a:ext cx="1276183" cy="49244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>
            <a:extLst>
              <a:ext uri="{FF2B5EF4-FFF2-40B4-BE49-F238E27FC236}">
                <a16:creationId xmlns:a16="http://schemas.microsoft.com/office/drawing/2014/main" id="{74ABABEE-8076-2F95-F0B3-F44127DE4EF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3076" y="4155527"/>
            <a:ext cx="6089324" cy="5156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A009944-61E9-9DF1-36F6-DBF0B8BA7EF6}"/>
                  </a:ext>
                </a:extLst>
              </p:cNvPr>
              <p:cNvSpPr txBox="1"/>
              <p:nvPr/>
            </p:nvSpPr>
            <p:spPr>
              <a:xfrm>
                <a:off x="413076" y="4972693"/>
                <a:ext cx="4143467" cy="10430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fair</m:t>
                          </m:r>
                        </m:e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3200" b="0" i="0" smtClean="0">
                                  <a:latin typeface="Cambria Math" panose="02040503050406030204" pitchFamily="18" charset="0"/>
                                </a:rPr>
                                <m:t>fair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</m:d>
                        </m:num>
                        <m:den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A009944-61E9-9DF1-36F6-DBF0B8BA7E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076" y="4972693"/>
                <a:ext cx="4143467" cy="104304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Picture 20">
            <a:extLst>
              <a:ext uri="{FF2B5EF4-FFF2-40B4-BE49-F238E27FC236}">
                <a16:creationId xmlns:a16="http://schemas.microsoft.com/office/drawing/2014/main" id="{CDA68C09-7C14-73C5-E0E4-59178D76FD3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17446" y="4874858"/>
            <a:ext cx="5089309" cy="127570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F71CCA1-C7EF-5B4C-DC48-72728A5EA3AE}"/>
                  </a:ext>
                </a:extLst>
              </p:cNvPr>
              <p:cNvSpPr txBox="1"/>
              <p:nvPr/>
            </p:nvSpPr>
            <p:spPr>
              <a:xfrm>
                <a:off x="4383778" y="5247992"/>
                <a:ext cx="1276183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F71CCA1-C7EF-5B4C-DC48-72728A5EA3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3778" y="5247992"/>
                <a:ext cx="1276183" cy="49244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9D7748E-EFB8-54BE-15D6-976949BCF2C8}"/>
                  </a:ext>
                </a:extLst>
              </p:cNvPr>
              <p:cNvSpPr txBox="1"/>
              <p:nvPr/>
            </p:nvSpPr>
            <p:spPr>
              <a:xfrm>
                <a:off x="6537416" y="4122401"/>
                <a:ext cx="1276183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=0.6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9D7748E-EFB8-54BE-15D6-976949BCF2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7416" y="4122401"/>
                <a:ext cx="1276183" cy="492443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93247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1F1E7E8-A5A3-2FF5-2386-EB4ADD8714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Bayes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A3DB402-D9B4-108D-1638-7DE3052E5C0C}"/>
                  </a:ext>
                </a:extLst>
              </p:cNvPr>
              <p:cNvSpPr>
                <a:spLocks noGrp="1"/>
              </p:cNvSpPr>
              <p:nvPr>
                <p:ph type="body" idx="2"/>
              </p:nvPr>
            </p:nvSpPr>
            <p:spPr/>
            <p:txBody>
              <a:bodyPr/>
              <a:lstStyle/>
              <a:p>
                <a:endParaRPr lang="en-US" dirty="0"/>
              </a:p>
              <a:p>
                <a:endParaRPr lang="en-US" dirty="0"/>
              </a:p>
              <a:p>
                <a:r>
                  <a:rPr lang="en-US" sz="3600" dirty="0"/>
                  <a:t>Statement: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sz="3600" dirty="0"/>
                  <a:t> 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A3DB402-D9B4-108D-1638-7DE3052E5C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393919A-92EB-A273-D016-E34FB8D55179}"/>
              </a:ext>
            </a:extLst>
          </p:cNvPr>
          <p:cNvCxnSpPr>
            <a:cxnSpLocks/>
          </p:cNvCxnSpPr>
          <p:nvPr/>
        </p:nvCxnSpPr>
        <p:spPr>
          <a:xfrm flipV="1">
            <a:off x="3420533" y="3946540"/>
            <a:ext cx="642989" cy="618793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5FF3C51-C8C0-14DC-2E29-9042FBB0ADFD}"/>
              </a:ext>
            </a:extLst>
          </p:cNvPr>
          <p:cNvCxnSpPr>
            <a:cxnSpLocks/>
          </p:cNvCxnSpPr>
          <p:nvPr/>
        </p:nvCxnSpPr>
        <p:spPr>
          <a:xfrm>
            <a:off x="5508183" y="2442633"/>
            <a:ext cx="404808" cy="448733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A712BB5-BF38-FBD2-A460-FFCFC244F7D2}"/>
              </a:ext>
            </a:extLst>
          </p:cNvPr>
          <p:cNvCxnSpPr>
            <a:cxnSpLocks/>
          </p:cNvCxnSpPr>
          <p:nvPr/>
        </p:nvCxnSpPr>
        <p:spPr>
          <a:xfrm flipH="1">
            <a:off x="6968269" y="2358671"/>
            <a:ext cx="322138" cy="520701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2408BC3-97DA-11E6-EED7-F377603B1130}"/>
              </a:ext>
            </a:extLst>
          </p:cNvPr>
          <p:cNvSpPr txBox="1"/>
          <p:nvPr/>
        </p:nvSpPr>
        <p:spPr>
          <a:xfrm>
            <a:off x="2460978" y="4615124"/>
            <a:ext cx="1726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Posterior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F03241-0B7A-295C-C072-73585EB9100A}"/>
              </a:ext>
            </a:extLst>
          </p:cNvPr>
          <p:cNvSpPr txBox="1"/>
          <p:nvPr/>
        </p:nvSpPr>
        <p:spPr>
          <a:xfrm>
            <a:off x="4186269" y="1955179"/>
            <a:ext cx="1726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Prior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289B7CA-171A-1D6B-3A8D-F1B1C91FA5AF}"/>
              </a:ext>
            </a:extLst>
          </p:cNvPr>
          <p:cNvSpPr txBox="1"/>
          <p:nvPr/>
        </p:nvSpPr>
        <p:spPr>
          <a:xfrm>
            <a:off x="7482324" y="2056753"/>
            <a:ext cx="1726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Likelihood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2DA6D12-CD2A-1347-D8C3-51E0D6B7D7E9}"/>
              </a:ext>
            </a:extLst>
          </p:cNvPr>
          <p:cNvCxnSpPr>
            <a:cxnSpLocks/>
          </p:cNvCxnSpPr>
          <p:nvPr/>
        </p:nvCxnSpPr>
        <p:spPr>
          <a:xfrm flipH="1" flipV="1">
            <a:off x="6752432" y="4076342"/>
            <a:ext cx="630501" cy="538782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CF9DA17-6970-1B83-E811-CE414317BBF3}"/>
              </a:ext>
            </a:extLst>
          </p:cNvPr>
          <p:cNvSpPr txBox="1"/>
          <p:nvPr/>
        </p:nvSpPr>
        <p:spPr>
          <a:xfrm>
            <a:off x="7382933" y="4558666"/>
            <a:ext cx="1726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Evidence</a:t>
            </a:r>
          </a:p>
        </p:txBody>
      </p:sp>
    </p:spTree>
    <p:extLst>
      <p:ext uri="{BB962C8B-B14F-4D97-AF65-F5344CB8AC3E}">
        <p14:creationId xmlns:p14="http://schemas.microsoft.com/office/powerpoint/2010/main" val="40895629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65E6F-49E2-1EF0-AF00-4402FAD4D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 rule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B52332-03D3-5849-6739-36AB5D5324B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Common usage to estimate the posterior over a model parameter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…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…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B52332-03D3-5849-6739-36AB5D5324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50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76930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59116-F125-4830-B609-90124A9D9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Poll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45FD62-A996-483E-96DE-0D897DD64F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2099" y="1113178"/>
                <a:ext cx="10515600" cy="5287622"/>
              </a:xfrm>
            </p:spPr>
            <p:txBody>
              <a:bodyPr/>
              <a:lstStyle/>
              <a:p>
                <a:r>
                  <a:rPr lang="en-US" dirty="0"/>
                  <a:t>For an exponential, where do we plug in the pdf,</a:t>
                </a:r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𝜆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lang="en-US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endParaRPr lang="en-US" dirty="0"/>
              </a:p>
              <a:p>
                <a:endParaRPr lang="en-US" dirty="0">
                  <a:solidFill>
                    <a:schemeClr val="tx1"/>
                  </a:solidFill>
                </a:endParaRPr>
              </a:p>
              <a:p>
                <a:endParaRPr lang="en-US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sepChr m:val="∣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sepChr m:val="∣"/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457200" indent="-457200">
                  <a:buFont typeface="Wingdings" panose="05000000000000000000" pitchFamily="2" charset="2"/>
                  <a:buChar char="§"/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 marL="514350" indent="-514350">
                  <a:buFont typeface="+mj-lt"/>
                  <a:buAutoNum type="arabicParenR"/>
                </a:pP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45FD62-A996-483E-96DE-0D897DD64F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2099" y="1113178"/>
                <a:ext cx="10515600" cy="5287622"/>
              </a:xfrm>
              <a:blipFill>
                <a:blip r:embed="rId2"/>
                <a:stretch>
                  <a:fillRect l="-1217" t="-1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D97C097B-EDD4-4282-B002-F52BD361F222}"/>
              </a:ext>
            </a:extLst>
          </p:cNvPr>
          <p:cNvSpPr txBox="1"/>
          <p:nvPr/>
        </p:nvSpPr>
        <p:spPr>
          <a:xfrm>
            <a:off x="5032076" y="1920814"/>
            <a:ext cx="4830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1">
                    <a:lumMod val="75000"/>
                  </a:schemeClr>
                </a:solidFill>
              </a:rPr>
              <a:t>B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1950478-69D1-4367-A591-C0CE0D93E9E4}"/>
              </a:ext>
            </a:extLst>
          </p:cNvPr>
          <p:cNvCxnSpPr/>
          <p:nvPr/>
        </p:nvCxnSpPr>
        <p:spPr>
          <a:xfrm>
            <a:off x="5515156" y="2373658"/>
            <a:ext cx="552091" cy="500332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DBB7F29-E060-4D4B-A8AE-D9CD06593B5F}"/>
              </a:ext>
            </a:extLst>
          </p:cNvPr>
          <p:cNvSpPr txBox="1"/>
          <p:nvPr/>
        </p:nvSpPr>
        <p:spPr>
          <a:xfrm>
            <a:off x="2927973" y="2081270"/>
            <a:ext cx="4830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1">
                    <a:lumMod val="75000"/>
                  </a:schemeClr>
                </a:solidFill>
              </a:rPr>
              <a:t>A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1B80ADE-510C-40D0-8211-736628A80FBA}"/>
              </a:ext>
            </a:extLst>
          </p:cNvPr>
          <p:cNvCxnSpPr/>
          <p:nvPr/>
        </p:nvCxnSpPr>
        <p:spPr>
          <a:xfrm>
            <a:off x="3411053" y="2534114"/>
            <a:ext cx="552091" cy="500332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953EE41-2040-4801-A2D6-B7D2063C0462}"/>
              </a:ext>
            </a:extLst>
          </p:cNvPr>
          <p:cNvSpPr txBox="1"/>
          <p:nvPr/>
        </p:nvSpPr>
        <p:spPr>
          <a:xfrm>
            <a:off x="7960041" y="1929132"/>
            <a:ext cx="4830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1">
                    <a:lumMod val="75000"/>
                  </a:schemeClr>
                </a:solidFill>
              </a:rPr>
              <a:t>C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9E1F928-B446-4FF9-AE74-EE968A6D34AA}"/>
              </a:ext>
            </a:extLst>
          </p:cNvPr>
          <p:cNvCxnSpPr>
            <a:cxnSpLocks/>
          </p:cNvCxnSpPr>
          <p:nvPr/>
        </p:nvCxnSpPr>
        <p:spPr>
          <a:xfrm flipH="1">
            <a:off x="7558549" y="2433484"/>
            <a:ext cx="401492" cy="516193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E6B3A78-3FA8-4A21-876D-00E19C808A8F}"/>
              </a:ext>
            </a:extLst>
          </p:cNvPr>
          <p:cNvSpPr txBox="1"/>
          <p:nvPr/>
        </p:nvSpPr>
        <p:spPr>
          <a:xfrm>
            <a:off x="5346708" y="4248601"/>
            <a:ext cx="4830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1">
                    <a:lumMod val="75000"/>
                  </a:schemeClr>
                </a:solidFill>
              </a:rPr>
              <a:t>D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6AAB7B6-38A5-4CC2-BDD1-50CB59B544AE}"/>
              </a:ext>
            </a:extLst>
          </p:cNvPr>
          <p:cNvCxnSpPr>
            <a:cxnSpLocks/>
          </p:cNvCxnSpPr>
          <p:nvPr/>
        </p:nvCxnSpPr>
        <p:spPr>
          <a:xfrm flipV="1">
            <a:off x="5829788" y="3984011"/>
            <a:ext cx="532426" cy="411008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3846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E2C2888-BD16-F3EA-1FFF-94008C037B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Bayesian inference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0ADDF81-C61D-8DE7-D7C1-8BF232E1017B}"/>
                  </a:ext>
                </a:extLst>
              </p:cNvPr>
              <p:cNvSpPr>
                <a:spLocks noGrp="1"/>
              </p:cNvSpPr>
              <p:nvPr>
                <p:ph type="body" idx="2"/>
              </p:nvPr>
            </p:nvSpPr>
            <p:spPr>
              <a:xfrm>
                <a:off x="1246063" y="2155607"/>
                <a:ext cx="9177402" cy="3725904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How do we find the posterior distribution?</a:t>
                </a:r>
              </a:p>
              <a:p>
                <a:endParaRPr lang="en-US" dirty="0"/>
              </a:p>
              <a:p>
                <a:r>
                  <a:rPr lang="en-US" dirty="0"/>
                  <a:t>Can in general be quite difficult</a:t>
                </a:r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…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…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Many answers in ML…today one special case</a:t>
                </a:r>
              </a:p>
              <a:p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0ADDF81-C61D-8DE7-D7C1-8BF232E101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xfrm>
                <a:off x="1246063" y="2155607"/>
                <a:ext cx="9177402" cy="3725904"/>
              </a:xfrm>
              <a:blipFill>
                <a:blip r:embed="rId2"/>
                <a:stretch>
                  <a:fillRect t="-27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C620E9-47FD-3D2C-32D4-5901F94EB1A7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>
            <a:normAutofit fontScale="85000" lnSpcReduction="20000"/>
          </a:bodyPr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9A4525-FD34-15EF-ACA1-597901A31DA7}"/>
              </a:ext>
            </a:extLst>
          </p:cNvPr>
          <p:cNvSpPr/>
          <p:nvPr/>
        </p:nvSpPr>
        <p:spPr>
          <a:xfrm>
            <a:off x="5834764" y="4244622"/>
            <a:ext cx="2348089" cy="46284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7151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F6C031C-8004-B0AD-950A-F56B90F63A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Conjugate priors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D9FE13-4C73-17F0-F38E-96E935F70848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Key question: form of the prior and likelihood </a:t>
            </a:r>
          </a:p>
          <a:p>
            <a:endParaRPr lang="en-US" dirty="0"/>
          </a:p>
          <a:p>
            <a:r>
              <a:rPr lang="en-US" dirty="0"/>
              <a:t>For some (prior, likelihood) pairs, the posterior is in the </a:t>
            </a:r>
            <a:r>
              <a:rPr lang="en-US" i="1" dirty="0"/>
              <a:t>same family </a:t>
            </a:r>
            <a:r>
              <a:rPr lang="en-US" dirty="0"/>
              <a:t>as the prior (“conjugate prior”)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18B351-6B00-2BB0-B218-F35AD195AC8A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>
            <a:normAutofit fontScale="85000" lnSpcReduction="2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0037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C849B9D-92F1-B95B-E4B1-EF5D2BCA85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Conjugate priors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9D2702A-23A8-979F-D351-527F8A2C1A69}"/>
                  </a:ext>
                </a:extLst>
              </p:cNvPr>
              <p:cNvSpPr>
                <a:spLocks noGrp="1"/>
              </p:cNvSpPr>
              <p:nvPr>
                <p:ph type="body" idx="2"/>
              </p:nvPr>
            </p:nvSpPr>
            <p:spPr/>
            <p:txBody>
              <a:bodyPr/>
              <a:lstStyle/>
              <a:p>
                <a:r>
                  <a:rPr lang="en-US" dirty="0"/>
                  <a:t>Example: beta prior for the binomial</a:t>
                </a:r>
              </a:p>
              <a:p>
                <a:endParaRPr lang="en-US" dirty="0"/>
              </a:p>
              <a:p>
                <a:r>
                  <a:rPr lang="en-US" dirty="0"/>
                  <a:t>Suppose that my likelihood is a binomial distribution: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successes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in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draw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)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1 −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9D2702A-23A8-979F-D351-527F8A2C1A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blipFill>
                <a:blip r:embed="rId2"/>
                <a:stretch>
                  <a:fillRect t="-19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10A493-FA09-28D1-EDF5-0BE398C595C3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>
            <a:normAutofit fontScale="85000" lnSpcReduction="2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1584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CE116-2DF1-CFC8-D475-FB505F4F9B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Conjugate priors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5288785-EDDB-ED4D-D6B3-E632C7AA836D}"/>
                  </a:ext>
                </a:extLst>
              </p:cNvPr>
              <p:cNvSpPr>
                <a:spLocks noGrp="1"/>
              </p:cNvSpPr>
              <p:nvPr>
                <p:ph type="body" idx="2"/>
              </p:nvPr>
            </p:nvSpPr>
            <p:spPr>
              <a:xfrm>
                <a:off x="1246063" y="2155607"/>
                <a:ext cx="5199893" cy="306774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Beta distribution: a family of distributions over [0,1]</a:t>
                </a:r>
              </a:p>
              <a:p>
                <a:endParaRPr lang="en-US" dirty="0"/>
              </a:p>
              <a:p>
                <a:r>
                  <a:rPr lang="en-US" dirty="0"/>
                  <a:t>Two parameters: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5288785-EDDB-ED4D-D6B3-E632C7AA83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xfrm>
                <a:off x="1246063" y="2155607"/>
                <a:ext cx="5199893" cy="3067748"/>
              </a:xfrm>
              <a:blipFill>
                <a:blip r:embed="rId2"/>
                <a:stretch>
                  <a:fillRect t="-19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490789-F95C-8147-1818-48CC84CECD65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>
            <a:normAutofit fontScale="85000" lnSpcReduction="20000"/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4839C4-0908-2745-6000-CAD20D65FB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5411" y="1539590"/>
            <a:ext cx="4694767" cy="368376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8D40908-D9BB-2B46-60DB-82B382B2CD31}"/>
                  </a:ext>
                </a:extLst>
              </p:cNvPr>
              <p:cNvSpPr txBox="1"/>
              <p:nvPr/>
            </p:nvSpPr>
            <p:spPr>
              <a:xfrm>
                <a:off x="1139700" y="5349128"/>
                <a:ext cx="6096000" cy="10049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Γ</m:t>
                          </m:r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Γ</m:t>
                          </m:r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Γ</m:t>
                          </m:r>
                          <m: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−1 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8D40908-D9BB-2B46-60DB-82B382B2CD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9700" y="5349128"/>
                <a:ext cx="6096000" cy="100495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85452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CB480F0-ECAE-42C9-749F-2FE349A0A8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Conjugate priors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0344A1F-4FCD-79AB-2F98-C78F202F9417}"/>
                  </a:ext>
                </a:extLst>
              </p:cNvPr>
              <p:cNvSpPr>
                <a:spLocks noGrp="1"/>
              </p:cNvSpPr>
              <p:nvPr>
                <p:ph type="body" idx="2"/>
              </p:nvPr>
            </p:nvSpPr>
            <p:spPr>
              <a:xfrm>
                <a:off x="327378" y="2155607"/>
                <a:ext cx="11413065" cy="3067748"/>
              </a:xfrm>
            </p:spPr>
            <p:txBody>
              <a:bodyPr/>
              <a:lstStyle/>
              <a:p>
                <a:r>
                  <a:rPr lang="en-US" dirty="0"/>
                  <a:t>Suppose that we see flips of a coin with success probability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The prior is a Beta distribution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Beta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The likelihood is binomial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successes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in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draw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)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1 −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The posterior is also a Beta distribution: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Β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0344A1F-4FCD-79AB-2F98-C78F202F94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xfrm>
                <a:off x="327378" y="2155607"/>
                <a:ext cx="11413065" cy="3067748"/>
              </a:xfrm>
              <a:blipFill>
                <a:blip r:embed="rId2"/>
                <a:stretch>
                  <a:fillRect t="-19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5AF732-910F-E89A-602E-4774E40D6D5F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>
            <a:normAutofit fontScale="85000" lnSpcReduction="2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8834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BFF83ED-3736-D7F0-B86F-F1103E98B7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6063" y="690152"/>
            <a:ext cx="7378648" cy="64611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Maximum a posteriori (MAP) inference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E1544DC-38B3-D7AC-381E-35D33AC7DECD}"/>
                  </a:ext>
                </a:extLst>
              </p:cNvPr>
              <p:cNvSpPr>
                <a:spLocks noGrp="1"/>
              </p:cNvSpPr>
              <p:nvPr>
                <p:ph type="body" idx="2"/>
              </p:nvPr>
            </p:nvSpPr>
            <p:spPr/>
            <p:txBody>
              <a:bodyPr/>
              <a:lstStyle/>
              <a:p>
                <a:r>
                  <a:rPr lang="en-US" dirty="0"/>
                  <a:t>In principle, Bayesian inference gives you a full distribution over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…</a:t>
                </a:r>
              </a:p>
              <a:p>
                <a:endParaRPr lang="en-US" dirty="0"/>
              </a:p>
              <a:p>
                <a:r>
                  <a:rPr lang="en-US" dirty="0"/>
                  <a:t>..But sometimes we want a point estimate</a:t>
                </a:r>
              </a:p>
              <a:p>
                <a:endParaRPr lang="en-US" dirty="0"/>
              </a:p>
              <a:p>
                <a:r>
                  <a:rPr lang="en-US" dirty="0"/>
                  <a:t>One idea: mode of the posterior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E1544DC-38B3-D7AC-381E-35D33AC7DE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blipFill>
                <a:blip r:embed="rId2"/>
                <a:stretch>
                  <a:fillRect t="-19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0FFA44-27DA-81DB-193A-6787970EFBCC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>
            <a:normAutofit fontScale="85000" lnSpcReduction="2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0494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MLE vs.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E5445004-F4FB-5345-992E-498B4C43F562}" type="slidenum">
              <a:rPr lang="en-US">
                <a:solidFill>
                  <a:prstClr val="black">
                    <a:tint val="75000"/>
                  </a:prstClr>
                </a:solidFill>
                <a:latin typeface="Candara"/>
              </a:rPr>
              <a:pPr defTabSz="457200"/>
              <a:t>36</a:t>
            </a:fld>
            <a:endParaRPr lang="en-US">
              <a:solidFill>
                <a:prstClr val="black">
                  <a:tint val="75000"/>
                </a:prstClr>
              </a:solidFill>
              <a:latin typeface="Candara"/>
            </a:endParaRPr>
          </a:p>
        </p:txBody>
      </p:sp>
      <p:pic>
        <p:nvPicPr>
          <p:cNvPr id="7" name="Picture 6" descr="latex-image-1.pdf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0189"/>
          <a:stretch/>
        </p:blipFill>
        <p:spPr>
          <a:xfrm>
            <a:off x="1981200" y="1355065"/>
            <a:ext cx="8293100" cy="795051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>
            <a:off x="1783343" y="3925043"/>
            <a:ext cx="8211800" cy="1767946"/>
            <a:chOff x="259343" y="3925043"/>
            <a:chExt cx="8211800" cy="1767946"/>
          </a:xfrm>
        </p:grpSpPr>
        <p:sp>
          <p:nvSpPr>
            <p:cNvPr id="12" name="Rectangle 11"/>
            <p:cNvSpPr/>
            <p:nvPr/>
          </p:nvSpPr>
          <p:spPr>
            <a:xfrm>
              <a:off x="259343" y="3925043"/>
              <a:ext cx="8211800" cy="1767946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US">
                <a:solidFill>
                  <a:prstClr val="white"/>
                </a:solidFill>
                <a:latin typeface="Candara"/>
              </a:endParaRPr>
            </a:p>
          </p:txBody>
        </p:sp>
        <p:pic>
          <p:nvPicPr>
            <p:cNvPr id="10" name="Picture 9" descr="latex-image-1.pdf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200" y="4072301"/>
              <a:ext cx="6261100" cy="1333500"/>
            </a:xfrm>
            <a:prstGeom prst="rect">
              <a:avLst/>
            </a:prstGeom>
          </p:spPr>
        </p:pic>
      </p:grpSp>
      <p:grpSp>
        <p:nvGrpSpPr>
          <p:cNvPr id="17" name="Group 16"/>
          <p:cNvGrpSpPr/>
          <p:nvPr/>
        </p:nvGrpSpPr>
        <p:grpSpPr>
          <a:xfrm>
            <a:off x="7019409" y="5065035"/>
            <a:ext cx="1706700" cy="981508"/>
            <a:chOff x="5495409" y="5194905"/>
            <a:chExt cx="1706700" cy="981508"/>
          </a:xfrm>
        </p:grpSpPr>
        <p:sp>
          <p:nvSpPr>
            <p:cNvPr id="15" name="Right Brace 14"/>
            <p:cNvSpPr/>
            <p:nvPr/>
          </p:nvSpPr>
          <p:spPr>
            <a:xfrm rot="5400000">
              <a:off x="6121761" y="4889744"/>
              <a:ext cx="446054" cy="1056376"/>
            </a:xfrm>
            <a:prstGeom prst="rightBrace">
              <a:avLst>
                <a:gd name="adj1" fmla="val 24123"/>
                <a:gd name="adj2" fmla="val 50000"/>
              </a:avLst>
            </a:prstGeom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457200"/>
              <a:endParaRPr lang="en-US">
                <a:solidFill>
                  <a:prstClr val="black"/>
                </a:solidFill>
                <a:latin typeface="Candara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5495409" y="5692989"/>
              <a:ext cx="1706700" cy="483424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r>
                <a:rPr lang="en-US" dirty="0">
                  <a:solidFill>
                    <a:prstClr val="black"/>
                  </a:solidFill>
                  <a:latin typeface="Candara"/>
                </a:rPr>
                <a:t>Prior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1783343" y="2120789"/>
            <a:ext cx="8211800" cy="1804255"/>
            <a:chOff x="259343" y="2120788"/>
            <a:chExt cx="8211800" cy="1804255"/>
          </a:xfrm>
        </p:grpSpPr>
        <p:grpSp>
          <p:nvGrpSpPr>
            <p:cNvPr id="14" name="Group 13"/>
            <p:cNvGrpSpPr/>
            <p:nvPr/>
          </p:nvGrpSpPr>
          <p:grpSpPr>
            <a:xfrm>
              <a:off x="259343" y="2157097"/>
              <a:ext cx="8211800" cy="1767946"/>
              <a:chOff x="259343" y="2157097"/>
              <a:chExt cx="8211800" cy="1767946"/>
            </a:xfrm>
          </p:grpSpPr>
          <p:sp>
            <p:nvSpPr>
              <p:cNvPr id="11" name="Rectangle 10"/>
              <p:cNvSpPr/>
              <p:nvPr/>
            </p:nvSpPr>
            <p:spPr>
              <a:xfrm>
                <a:off x="259343" y="2157097"/>
                <a:ext cx="8211800" cy="1767946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200"/>
                <a:endParaRPr lang="en-US">
                  <a:solidFill>
                    <a:prstClr val="white"/>
                  </a:solidFill>
                  <a:latin typeface="Candara"/>
                </a:endParaRPr>
              </a:p>
            </p:txBody>
          </p:sp>
          <p:pic>
            <p:nvPicPr>
              <p:cNvPr id="9" name="Picture 8" descr="latex-image-1.pdf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57200" y="2421335"/>
                <a:ext cx="5359400" cy="1333500"/>
              </a:xfrm>
              <a:prstGeom prst="rect">
                <a:avLst/>
              </a:prstGeom>
            </p:spPr>
          </p:pic>
        </p:grpSp>
        <p:sp>
          <p:nvSpPr>
            <p:cNvPr id="18" name="TextBox 17"/>
            <p:cNvSpPr txBox="1"/>
            <p:nvPr/>
          </p:nvSpPr>
          <p:spPr>
            <a:xfrm>
              <a:off x="6191005" y="2120788"/>
              <a:ext cx="2280137" cy="866284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ctr" defTabSz="457200"/>
              <a:r>
                <a:rPr lang="en-US" dirty="0">
                  <a:solidFill>
                    <a:prstClr val="black"/>
                  </a:solidFill>
                  <a:latin typeface="Candara"/>
                </a:rPr>
                <a:t>Maximum Likelihood Estimate (MLE)</a:t>
              </a: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7715007" y="3751883"/>
            <a:ext cx="2280137" cy="86628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 defTabSz="457200"/>
            <a:r>
              <a:rPr lang="en-US" dirty="0">
                <a:solidFill>
                  <a:prstClr val="black"/>
                </a:solidFill>
                <a:latin typeface="Candara"/>
              </a:rPr>
              <a:t>Maximum </a:t>
            </a:r>
            <a:r>
              <a:rPr lang="en-US" i="1" dirty="0">
                <a:solidFill>
                  <a:prstClr val="black"/>
                </a:solidFill>
                <a:latin typeface="Candara"/>
              </a:rPr>
              <a:t>a posteriori</a:t>
            </a:r>
            <a:r>
              <a:rPr lang="en-US" dirty="0">
                <a:solidFill>
                  <a:prstClr val="black"/>
                </a:solidFill>
                <a:latin typeface="Candara"/>
              </a:rPr>
              <a:t> (MAP) estimate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C4F4B3-0EF4-4E7A-A222-D3EFFF682841}"/>
              </a:ext>
            </a:extLst>
          </p:cNvPr>
          <p:cNvSpPr txBox="1"/>
          <p:nvPr/>
        </p:nvSpPr>
        <p:spPr>
          <a:xfrm>
            <a:off x="406400" y="6444734"/>
            <a:ext cx="3667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Slide credit: CMU MLD Matt Gormley</a:t>
            </a:r>
          </a:p>
        </p:txBody>
      </p:sp>
    </p:spTree>
    <p:extLst>
      <p:ext uri="{BB962C8B-B14F-4D97-AF65-F5344CB8AC3E}">
        <p14:creationId xmlns:p14="http://schemas.microsoft.com/office/powerpoint/2010/main" val="1412891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BFF83ED-3736-D7F0-B86F-F1103E98B7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6063" y="690152"/>
            <a:ext cx="7378648" cy="64611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MAP for the Beta-binomial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E1544DC-38B3-D7AC-381E-35D33AC7DECD}"/>
                  </a:ext>
                </a:extLst>
              </p:cNvPr>
              <p:cNvSpPr>
                <a:spLocks noGrp="1"/>
              </p:cNvSpPr>
              <p:nvPr>
                <p:ph type="body" idx="2"/>
              </p:nvPr>
            </p:nvSpPr>
            <p:spPr/>
            <p:txBody>
              <a:bodyPr/>
              <a:lstStyle/>
              <a:p>
                <a:r>
                  <a:rPr lang="en-US" dirty="0"/>
                  <a:t>Mode of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Beta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distribution is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4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 −1</m:t>
                        </m:r>
                      </m:num>
                      <m:den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 −2</m:t>
                        </m:r>
                      </m:den>
                    </m:f>
                  </m:oMath>
                </a14:m>
                <a:r>
                  <a:rPr lang="en-US" sz="4400" dirty="0"/>
                  <a:t> for </a:t>
                </a:r>
                <a14:m>
                  <m:oMath xmlns:m="http://schemas.openxmlformats.org/officeDocument/2006/math"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E1544DC-38B3-D7AC-381E-35D33AC7DE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blipFill>
                <a:blip r:embed="rId2"/>
                <a:stretch>
                  <a:fillRect t="-19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0FFA44-27DA-81DB-193A-6787970EFBCC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>
            <a:normAutofit fontScale="85000" lnSpcReduction="2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07104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790493C-8486-2F50-C708-2F6722259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MAP for the Beta-binomial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53034A7-7F7C-C6D2-5C29-0CA1F07D55BB}"/>
                  </a:ext>
                </a:extLst>
              </p:cNvPr>
              <p:cNvSpPr>
                <a:spLocks noGrp="1"/>
              </p:cNvSpPr>
              <p:nvPr>
                <p:ph type="body" idx="2"/>
              </p:nvPr>
            </p:nvSpPr>
            <p:spPr>
              <a:xfrm>
                <a:off x="1246063" y="2155606"/>
                <a:ext cx="9177402" cy="4188749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Suppose that we saw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dirty="0"/>
                  <a:t> successes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failure</a:t>
                </a:r>
              </a:p>
              <a:p>
                <a:endParaRPr lang="en-US" dirty="0"/>
              </a:p>
              <a:p>
                <a:r>
                  <a:rPr lang="en-US" dirty="0"/>
                  <a:t>MAP estimate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success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for different priors:</a:t>
                </a:r>
              </a:p>
              <a:p>
                <a:endParaRPr lang="en-US" dirty="0"/>
              </a:p>
              <a:p>
                <a:r>
                  <a:rPr lang="en-US" dirty="0"/>
                  <a:t>Prior (1, 1) </a:t>
                </a:r>
                <a:r>
                  <a:rPr lang="en-US" dirty="0">
                    <a:sym typeface="Wingdings" panose="05000000000000000000" pitchFamily="2" charset="2"/>
                  </a:rPr>
                  <a:t> Posterior (4, 2)  MAP estimate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4</m:t>
                        </m:r>
                      </m:den>
                    </m:f>
                  </m:oMath>
                </a14:m>
                <a:endParaRPr lang="en-US" dirty="0">
                  <a:sym typeface="Wingdings" panose="05000000000000000000" pitchFamily="2" charset="2"/>
                </a:endParaRP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53034A7-7F7C-C6D2-5C29-0CA1F07D55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xfrm>
                <a:off x="1246063" y="2155606"/>
                <a:ext cx="9177402" cy="4188749"/>
              </a:xfrm>
              <a:blipFill>
                <a:blip r:embed="rId2"/>
                <a:stretch>
                  <a:fillRect t="-14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88A86E-87BE-FA7B-89C3-43B3305197D9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>
            <a:normAutofit fontScale="85000" lnSpcReduction="20000"/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AEFCCBB-0AA6-617F-00EE-210C4FC42D3E}"/>
                  </a:ext>
                </a:extLst>
              </p:cNvPr>
              <p:cNvSpPr txBox="1"/>
              <p:nvPr/>
            </p:nvSpPr>
            <p:spPr>
              <a:xfrm>
                <a:off x="9263893" y="2333077"/>
                <a:ext cx="1682044" cy="945067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 −1</m:t>
                        </m:r>
                      </m:num>
                      <m:den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 −2</m:t>
                        </m:r>
                      </m:den>
                    </m:f>
                  </m:oMath>
                </a14:m>
                <a:r>
                  <a:rPr lang="en-US" sz="3600" dirty="0"/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AEFCCBB-0AA6-617F-00EE-210C4FC42D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3893" y="2333077"/>
                <a:ext cx="1682044" cy="94506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21380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790493C-8486-2F50-C708-2F6722259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MAP for the Beta-binomial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53034A7-7F7C-C6D2-5C29-0CA1F07D55BB}"/>
                  </a:ext>
                </a:extLst>
              </p:cNvPr>
              <p:cNvSpPr>
                <a:spLocks noGrp="1"/>
              </p:cNvSpPr>
              <p:nvPr>
                <p:ph type="body" idx="2"/>
              </p:nvPr>
            </p:nvSpPr>
            <p:spPr>
              <a:xfrm>
                <a:off x="1246063" y="2155606"/>
                <a:ext cx="9177402" cy="4188749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Suppose that we saw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dirty="0"/>
                  <a:t> successes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failure</a:t>
                </a:r>
              </a:p>
              <a:p>
                <a:endParaRPr lang="en-US" dirty="0"/>
              </a:p>
              <a:p>
                <a:r>
                  <a:rPr lang="en-US" dirty="0"/>
                  <a:t>MAP estimate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success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for different priors:</a:t>
                </a:r>
              </a:p>
              <a:p>
                <a:endParaRPr lang="en-US" dirty="0"/>
              </a:p>
              <a:p>
                <a:r>
                  <a:rPr lang="en-US" dirty="0"/>
                  <a:t>Prior (1, 1) </a:t>
                </a:r>
                <a:r>
                  <a:rPr lang="en-US" dirty="0">
                    <a:sym typeface="Wingdings" panose="05000000000000000000" pitchFamily="2" charset="2"/>
                  </a:rPr>
                  <a:t> Posterior (4, 2)  MAP estimate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4</m:t>
                        </m:r>
                      </m:den>
                    </m:f>
                  </m:oMath>
                </a14:m>
                <a:endParaRPr lang="en-US" dirty="0">
                  <a:sym typeface="Wingdings" panose="05000000000000000000" pitchFamily="2" charset="2"/>
                </a:endParaRPr>
              </a:p>
              <a:p>
                <a:r>
                  <a:rPr lang="en-US" dirty="0"/>
                  <a:t>Prior(5, 5) </a:t>
                </a:r>
                <a:r>
                  <a:rPr lang="en-US" dirty="0">
                    <a:sym typeface="Wingdings" panose="05000000000000000000" pitchFamily="2" charset="2"/>
                  </a:rPr>
                  <a:t> Posterior (8, 6)  MAP estimate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7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12</m:t>
                        </m:r>
                      </m:den>
                    </m:f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53034A7-7F7C-C6D2-5C29-0CA1F07D55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xfrm>
                <a:off x="1246063" y="2155606"/>
                <a:ext cx="9177402" cy="4188749"/>
              </a:xfrm>
              <a:blipFill>
                <a:blip r:embed="rId2"/>
                <a:stretch>
                  <a:fillRect t="-14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88A86E-87BE-FA7B-89C3-43B3305197D9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>
            <a:normAutofit fontScale="85000" lnSpcReduction="20000"/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AEFCCBB-0AA6-617F-00EE-210C4FC42D3E}"/>
                  </a:ext>
                </a:extLst>
              </p:cNvPr>
              <p:cNvSpPr txBox="1"/>
              <p:nvPr/>
            </p:nvSpPr>
            <p:spPr>
              <a:xfrm>
                <a:off x="9263893" y="2333077"/>
                <a:ext cx="1682044" cy="945067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 −1</m:t>
                        </m:r>
                      </m:num>
                      <m:den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 −2</m:t>
                        </m:r>
                      </m:den>
                    </m:f>
                  </m:oMath>
                </a14:m>
                <a:r>
                  <a:rPr lang="en-US" sz="3600" dirty="0"/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AEFCCBB-0AA6-617F-00EE-210C4FC42D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3893" y="2333077"/>
                <a:ext cx="1682044" cy="94506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52549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790493C-8486-2F50-C708-2F6722259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MAP for the Beta-binomial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53034A7-7F7C-C6D2-5C29-0CA1F07D55BB}"/>
                  </a:ext>
                </a:extLst>
              </p:cNvPr>
              <p:cNvSpPr>
                <a:spLocks noGrp="1"/>
              </p:cNvSpPr>
              <p:nvPr>
                <p:ph type="body" idx="2"/>
              </p:nvPr>
            </p:nvSpPr>
            <p:spPr>
              <a:xfrm>
                <a:off x="1246063" y="2155606"/>
                <a:ext cx="9177402" cy="4188749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Suppose that we saw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dirty="0"/>
                  <a:t> successes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failure</a:t>
                </a:r>
              </a:p>
              <a:p>
                <a:endParaRPr lang="en-US" dirty="0"/>
              </a:p>
              <a:p>
                <a:r>
                  <a:rPr lang="en-US" dirty="0"/>
                  <a:t>MAP estimate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success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for different priors:</a:t>
                </a:r>
              </a:p>
              <a:p>
                <a:endParaRPr lang="en-US" dirty="0"/>
              </a:p>
              <a:p>
                <a:r>
                  <a:rPr lang="en-US" dirty="0"/>
                  <a:t>Prior (1, 1) </a:t>
                </a:r>
                <a:r>
                  <a:rPr lang="en-US" dirty="0">
                    <a:sym typeface="Wingdings" panose="05000000000000000000" pitchFamily="2" charset="2"/>
                  </a:rPr>
                  <a:t> Posterior (4, 2)  MAP estimate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4</m:t>
                        </m:r>
                      </m:den>
                    </m:f>
                  </m:oMath>
                </a14:m>
                <a:endParaRPr lang="en-US" dirty="0">
                  <a:sym typeface="Wingdings" panose="05000000000000000000" pitchFamily="2" charset="2"/>
                </a:endParaRPr>
              </a:p>
              <a:p>
                <a:r>
                  <a:rPr lang="en-US" dirty="0"/>
                  <a:t>Prior(5, 5) </a:t>
                </a:r>
                <a:r>
                  <a:rPr lang="en-US" dirty="0">
                    <a:sym typeface="Wingdings" panose="05000000000000000000" pitchFamily="2" charset="2"/>
                  </a:rPr>
                  <a:t> Posterior (8, 6)  MAP estimate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7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12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Prior(1, 4) </a:t>
                </a:r>
                <a:r>
                  <a:rPr lang="en-US" dirty="0">
                    <a:sym typeface="Wingdings" panose="05000000000000000000" pitchFamily="2" charset="2"/>
                  </a:rPr>
                  <a:t> Posterior (4, 5)  MAP estimate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7</m:t>
                        </m:r>
                      </m:den>
                    </m:f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53034A7-7F7C-C6D2-5C29-0CA1F07D55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xfrm>
                <a:off x="1246063" y="2155606"/>
                <a:ext cx="9177402" cy="4188749"/>
              </a:xfrm>
              <a:blipFill>
                <a:blip r:embed="rId2"/>
                <a:stretch>
                  <a:fillRect t="-14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88A86E-87BE-FA7B-89C3-43B3305197D9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>
            <a:normAutofit fontScale="85000" lnSpcReduction="20000"/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AEFCCBB-0AA6-617F-00EE-210C4FC42D3E}"/>
                  </a:ext>
                </a:extLst>
              </p:cNvPr>
              <p:cNvSpPr txBox="1"/>
              <p:nvPr/>
            </p:nvSpPr>
            <p:spPr>
              <a:xfrm>
                <a:off x="9263893" y="2333077"/>
                <a:ext cx="1682044" cy="945067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 −1</m:t>
                        </m:r>
                      </m:num>
                      <m:den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 −2</m:t>
                        </m:r>
                      </m:den>
                    </m:f>
                  </m:oMath>
                </a14:m>
                <a:r>
                  <a:rPr lang="en-US" sz="3600" dirty="0"/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AEFCCBB-0AA6-617F-00EE-210C4FC42D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3893" y="2333077"/>
                <a:ext cx="1682044" cy="94506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71681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.potx" id="{DA11FA2B-8FCA-4322-93DA-6C8F53468DA7}" vid="{856CF231-596A-4CB8-93D6-B29F8EE2888E}"/>
    </a:ext>
  </a:extLst>
</a:theme>
</file>

<file path=ppt/theme/theme2.xml><?xml version="1.0" encoding="utf-8"?>
<a:theme xmlns:a="http://schemas.openxmlformats.org/drawingml/2006/main" name="2_Theme_petuum_new_editted">
  <a:themeElements>
    <a:clrScheme name="Petuum-1 1">
      <a:dk1>
        <a:srgbClr val="323232"/>
      </a:dk1>
      <a:lt1>
        <a:srgbClr val="FFFFFF"/>
      </a:lt1>
      <a:dk2>
        <a:srgbClr val="44546A"/>
      </a:dk2>
      <a:lt2>
        <a:srgbClr val="E7E6E6"/>
      </a:lt2>
      <a:accent1>
        <a:srgbClr val="62DAD1"/>
      </a:accent1>
      <a:accent2>
        <a:srgbClr val="31CFC4"/>
      </a:accent2>
      <a:accent3>
        <a:srgbClr val="26B6C9"/>
      </a:accent3>
      <a:accent4>
        <a:srgbClr val="189ACD"/>
      </a:accent4>
      <a:accent5>
        <a:srgbClr val="007EC6"/>
      </a:accent5>
      <a:accent6>
        <a:srgbClr val="0064B5"/>
      </a:accent6>
      <a:hlink>
        <a:srgbClr val="A8A9A8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_petuum_new_editted" id="{8C570960-96C6-CD4A-B694-13880F3F604A}" vid="{24623263-F257-A645-A612-B0D2FF17DF8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11628</TotalTime>
  <Words>1552</Words>
  <Application>Microsoft Macintosh PowerPoint</Application>
  <PresentationFormat>Widescreen</PresentationFormat>
  <Paragraphs>235</Paragraphs>
  <Slides>40</Slides>
  <Notes>14</Notes>
  <HiddenSlides>6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40</vt:i4>
      </vt:variant>
    </vt:vector>
  </HeadingPairs>
  <TitlesOfParts>
    <vt:vector size="51" baseType="lpstr">
      <vt:lpstr>Arial</vt:lpstr>
      <vt:lpstr>Calibri</vt:lpstr>
      <vt:lpstr>Cambria Math</vt:lpstr>
      <vt:lpstr>Candara</vt:lpstr>
      <vt:lpstr>Helvetica</vt:lpstr>
      <vt:lpstr>Helvetica Light</vt:lpstr>
      <vt:lpstr>Helvetica Neue</vt:lpstr>
      <vt:lpstr>Open Sans</vt:lpstr>
      <vt:lpstr>Wingdings</vt:lpstr>
      <vt:lpstr>Office Theme</vt:lpstr>
      <vt:lpstr>2_Theme_petuum_new_editted</vt:lpstr>
      <vt:lpstr>PowerPoint Presentation</vt:lpstr>
      <vt:lpstr>Announcements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Bayes rule</vt:lpstr>
      <vt:lpstr>Poll 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MLE vs. MAP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</dc:title>
  <dc:creator>Patrick Virtue</dc:creator>
  <cp:lastModifiedBy>Bryan Wilder</cp:lastModifiedBy>
  <cp:revision>196</cp:revision>
  <dcterms:created xsi:type="dcterms:W3CDTF">2020-05-18T13:01:09Z</dcterms:created>
  <dcterms:modified xsi:type="dcterms:W3CDTF">2025-10-08T15:03:59Z</dcterms:modified>
</cp:coreProperties>
</file>