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20"/>
  </p:notesMasterIdLst>
  <p:sldIdLst>
    <p:sldId id="256" r:id="rId2"/>
    <p:sldId id="304" r:id="rId3"/>
    <p:sldId id="288" r:id="rId4"/>
    <p:sldId id="290" r:id="rId5"/>
    <p:sldId id="306" r:id="rId6"/>
    <p:sldId id="308" r:id="rId7"/>
    <p:sldId id="257" r:id="rId8"/>
    <p:sldId id="291" r:id="rId9"/>
    <p:sldId id="293" r:id="rId10"/>
    <p:sldId id="294" r:id="rId11"/>
    <p:sldId id="292" r:id="rId12"/>
    <p:sldId id="299" r:id="rId13"/>
    <p:sldId id="300" r:id="rId14"/>
    <p:sldId id="301" r:id="rId15"/>
    <p:sldId id="296" r:id="rId16"/>
    <p:sldId id="305" r:id="rId17"/>
    <p:sldId id="297" r:id="rId18"/>
    <p:sldId id="298" r:id="rId1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1"/>
    </p:embeddedFon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Open Sans Light" panose="020B0306030504020204" pitchFamily="34" charset="0"/>
      <p:regular r:id="rId26"/>
      <p: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2"/>
    <p:restoredTop sz="94726"/>
  </p:normalViewPr>
  <p:slideViewPr>
    <p:cSldViewPr snapToGrid="0">
      <p:cViewPr varScale="1">
        <p:scale>
          <a:sx n="154" d="100"/>
          <a:sy n="154" d="100"/>
        </p:scale>
        <p:origin x="47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 txBox="1">
            <a:spLocks noGrp="1"/>
          </p:cNvSpPr>
          <p:nvPr>
            <p:ph type="sldNum" idx="12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50cedf37f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50cedf37f0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150cedf37f0_0_0:notes"/>
          <p:cNvSpPr txBox="1">
            <a:spLocks noGrp="1"/>
          </p:cNvSpPr>
          <p:nvPr>
            <p:ph type="sldNum" idx="12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2" name="Google Shape;22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 descr="_Plaid-Digital_FINAL-NEW.png"/>
          <p:cNvPicPr preferRelativeResize="0"/>
          <p:nvPr/>
        </p:nvPicPr>
        <p:blipFill rotWithShape="1">
          <a:blip r:embed="rId3">
            <a:alphaModFix/>
          </a:blip>
          <a:srcRect l="84737" t="23988" r="4770" b="1989"/>
          <a:stretch/>
        </p:blipFill>
        <p:spPr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5" name="Google Shape;25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2" descr="_Plaid-Digital_FINAL-NEW.png"/>
          <p:cNvPicPr preferRelativeResize="0"/>
          <p:nvPr/>
        </p:nvPicPr>
        <p:blipFill rotWithShape="1">
          <a:blip r:embed="rId3">
            <a:alphaModFix/>
          </a:blip>
          <a:srcRect l="84737" t="23988" r="4770" b="1989"/>
          <a:stretch/>
        </p:blipFill>
        <p:spPr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Column">
  <p:cSld name="1 Column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lumn">
  <p:cSld name="2 Column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3962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727448" y="1212300"/>
            <a:ext cx="3959352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lumn">
  <p:cSld name="3 Colum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25908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3276600" y="1200150"/>
            <a:ext cx="25908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3"/>
          </p:nvPr>
        </p:nvSpPr>
        <p:spPr>
          <a:xfrm>
            <a:off x="6096000" y="1200150"/>
            <a:ext cx="25908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Column">
  <p:cSld name="4 Colum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19050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2"/>
          </p:nvPr>
        </p:nvSpPr>
        <p:spPr>
          <a:xfrm>
            <a:off x="2565400" y="1200150"/>
            <a:ext cx="19050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3"/>
          </p:nvPr>
        </p:nvSpPr>
        <p:spPr>
          <a:xfrm>
            <a:off x="4673600" y="1200150"/>
            <a:ext cx="19050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4"/>
          </p:nvPr>
        </p:nvSpPr>
        <p:spPr>
          <a:xfrm>
            <a:off x="6781800" y="1200150"/>
            <a:ext cx="19050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2pPr>
            <a:lvl3pPr marL="1371600" lvl="2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3pPr>
            <a:lvl4pPr marL="1828800" lvl="3" indent="-35433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•"/>
              <a:defRPr/>
            </a:lvl4pPr>
            <a:lvl5pPr marL="2286000" lvl="4" indent="-354329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80"/>
              <a:buChar char="–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 descr="_Plaid-Digital_FINAL-NEW.png"/>
          <p:cNvPicPr preferRelativeResize="0"/>
          <p:nvPr/>
        </p:nvPicPr>
        <p:blipFill rotWithShape="1">
          <a:blip r:embed="rId8">
            <a:alphaModFix/>
          </a:blip>
          <a:srcRect l="59550" t="20875" r="39888" b="2893"/>
          <a:stretch/>
        </p:blipFill>
        <p:spPr>
          <a:xfrm rot="5400000">
            <a:off x="3798887" y="1046163"/>
            <a:ext cx="60325" cy="765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" descr="_Plaid-Digital_FINAL-NEW.png"/>
          <p:cNvPicPr preferRelativeResize="0"/>
          <p:nvPr/>
        </p:nvPicPr>
        <p:blipFill rotWithShape="1">
          <a:blip r:embed="rId8">
            <a:alphaModFix/>
          </a:blip>
          <a:srcRect l="59550" t="20875" r="39888" b="2893"/>
          <a:stretch/>
        </p:blipFill>
        <p:spPr>
          <a:xfrm rot="5400000">
            <a:off x="3798887" y="1046163"/>
            <a:ext cx="60325" cy="765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2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2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2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200" b="0" i="0" u="none" strike="noStrike" cap="none">
                <a:solidFill>
                  <a:schemeClr val="dk2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60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2639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4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26389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40"/>
              <a:buFont typeface="Arial"/>
              <a:buChar char="–"/>
              <a:def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26389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4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26389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540"/>
              <a:buFont typeface="Arial"/>
              <a:buChar char="–"/>
              <a:def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4" name="Google Shape;14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772400" y="4248150"/>
            <a:ext cx="1154590" cy="736392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11073918" y="6400413"/>
            <a:ext cx="27988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" name="Google Shape;16;p1"/>
          <p:cNvSpPr txBox="1"/>
          <p:nvPr/>
        </p:nvSpPr>
        <p:spPr>
          <a:xfrm>
            <a:off x="11226318" y="6552813"/>
            <a:ext cx="27988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11378718" y="6705213"/>
            <a:ext cx="27988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11531118" y="6857613"/>
            <a:ext cx="27988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8534400" y="100340"/>
            <a:ext cx="50689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100" b="0" i="0" u="none" strike="noStrike" cap="none">
                <a:solidFill>
                  <a:srgbClr val="7F7F7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 sz="1100" b="0" i="0" u="none" strike="noStrike" cap="none">
              <a:solidFill>
                <a:srgbClr val="7F7F7F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iammustafatz/diabetes-prediction-dataset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53;p9"/>
          <p:cNvCxnSpPr/>
          <p:nvPr/>
        </p:nvCxnSpPr>
        <p:spPr>
          <a:xfrm>
            <a:off x="2209800" y="3486150"/>
            <a:ext cx="5486400" cy="0"/>
          </a:xfrm>
          <a:prstGeom prst="straightConnector1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Google Shape;54;p9"/>
          <p:cNvSpPr txBox="1"/>
          <p:nvPr/>
        </p:nvSpPr>
        <p:spPr>
          <a:xfrm>
            <a:off x="2133600" y="2038350"/>
            <a:ext cx="6798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175" lvl="0" indent="-317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Mathematical Foundations for ML (10-606):</a:t>
            </a:r>
            <a:endParaRPr sz="2400" dirty="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3175" marR="0" lvl="0" indent="-3175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4000" dirty="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Linear algebra foundations</a:t>
            </a:r>
            <a:endParaRPr sz="4000" dirty="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3175" marR="0" lvl="0" indent="-3175" algn="l" rtl="0">
              <a:spcBef>
                <a:spcPts val="0"/>
              </a:spcBef>
              <a:spcAft>
                <a:spcPts val="0"/>
              </a:spcAft>
              <a:buNone/>
            </a:pPr>
            <a:endParaRPr sz="4000" dirty="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2133600" y="3638550"/>
            <a:ext cx="5257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175" marR="0" lvl="0" indent="-3175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Bryan Wilder</a:t>
            </a:r>
            <a:endParaRPr dirty="0"/>
          </a:p>
          <a:p>
            <a:pPr marL="3175" marR="0" lvl="0" indent="-3175" algn="l" rtl="0">
              <a:spcBef>
                <a:spcPts val="32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bwilder@cmu.edu </a:t>
            </a:r>
            <a:endParaRPr dirty="0"/>
          </a:p>
        </p:txBody>
      </p:sp>
      <p:sp>
        <p:nvSpPr>
          <p:cNvPr id="56" name="Google Shape;56;p9"/>
          <p:cNvSpPr txBox="1"/>
          <p:nvPr/>
        </p:nvSpPr>
        <p:spPr>
          <a:xfrm>
            <a:off x="2133600" y="4695325"/>
            <a:ext cx="69033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* Slides borrowed from prior offerings by Professors M. Gormley, P. Virtue,  G. Gordon, &amp; H. </a:t>
            </a:r>
            <a:r>
              <a:rPr lang="en-US" sz="11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Heidari</a:t>
            </a:r>
            <a:r>
              <a:rPr lang="en-US" sz="11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1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5CE04-DEE9-5FCD-59AA-4A1C8A313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1840B-9B8A-E1F3-F39D-981DB7A7F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dirty="0"/>
              <a:t>First homework due Sunday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en-US" dirty="0"/>
              <a:t>No recitation this week Friday</a:t>
            </a:r>
          </a:p>
        </p:txBody>
      </p:sp>
    </p:spTree>
    <p:extLst>
      <p:ext uri="{BB962C8B-B14F-4D97-AF65-F5344CB8AC3E}">
        <p14:creationId xmlns:p14="http://schemas.microsoft.com/office/powerpoint/2010/main" val="1126436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5CE04-DEE9-5FCD-59AA-4A1C8A313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1840B-9B8A-E1F3-F39D-981DB7A7F1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Provides a means of representing linear functions and solving linear systems of equations</a:t>
            </a:r>
          </a:p>
          <a:p>
            <a:endParaRPr lang="en-US" dirty="0"/>
          </a:p>
          <a:p>
            <a:r>
              <a:rPr lang="en-US" dirty="0"/>
              <a:t>E.g., consider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F11DBE-57E7-6FDA-4A8C-4D444AD4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096" y="2571750"/>
            <a:ext cx="3805328" cy="99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398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5CE04-DEE9-5FCD-59AA-4A1C8A313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1840B-9B8A-E1F3-F39D-981DB7A7F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581400"/>
          </a:xfrm>
        </p:spPr>
        <p:txBody>
          <a:bodyPr/>
          <a:lstStyle/>
          <a:p>
            <a:r>
              <a:rPr lang="en-US" dirty="0"/>
              <a:t>Provides a means of representing linear functions and solving linear systems of equations</a:t>
            </a:r>
          </a:p>
          <a:p>
            <a:endParaRPr lang="en-US" dirty="0"/>
          </a:p>
          <a:p>
            <a:r>
              <a:rPr lang="en-US" dirty="0"/>
              <a:t>E.g., consider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Conversion to matrix notation.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can see say about the system? How can we solve it?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A133D8-CAFF-7E8E-B7A5-FFA33FE48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2528" y="3306219"/>
            <a:ext cx="3335564" cy="10551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991029-6105-AE4E-75B6-6BDD74C3C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218" y="2158033"/>
            <a:ext cx="3335564" cy="86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202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D11E6-D13F-76F2-3D7C-2F0B3B71B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BB3B8-FFB9-F078-94F5-2991CD2F0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B2A3A3-3078-08BD-441B-598010209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581400"/>
          </a:xfrm>
        </p:spPr>
        <p:txBody>
          <a:bodyPr/>
          <a:lstStyle/>
          <a:p>
            <a:r>
              <a:rPr lang="en-US" dirty="0"/>
              <a:t>In machine learning, matrices are the way that we both store and manipulate information</a:t>
            </a:r>
          </a:p>
          <a:p>
            <a:endParaRPr lang="en-US" dirty="0"/>
          </a:p>
          <a:p>
            <a:r>
              <a:rPr lang="en-US" dirty="0"/>
              <a:t>Data: stored in a matrix. Recommendation systems example: matrix of ratings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C83D9B-E0CA-729C-B2C9-833221906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94" y="2470668"/>
            <a:ext cx="3643052" cy="219280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E13AF-2C7D-908F-5A3E-7135FF332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515" y="2494624"/>
            <a:ext cx="3643052" cy="219280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7B12EAD-E77F-BCB1-7346-D29A3A942D05}"/>
              </a:ext>
            </a:extLst>
          </p:cNvPr>
          <p:cNvSpPr/>
          <p:nvPr/>
        </p:nvSpPr>
        <p:spPr>
          <a:xfrm>
            <a:off x="6362700" y="3157451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6F284-FE06-A2A6-20DE-8ADC95FF74D3}"/>
              </a:ext>
            </a:extLst>
          </p:cNvPr>
          <p:cNvSpPr/>
          <p:nvPr/>
        </p:nvSpPr>
        <p:spPr>
          <a:xfrm>
            <a:off x="5106786" y="3157450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2F186D-CDBB-50BC-1D28-85BA37091470}"/>
              </a:ext>
            </a:extLst>
          </p:cNvPr>
          <p:cNvSpPr/>
          <p:nvPr/>
        </p:nvSpPr>
        <p:spPr>
          <a:xfrm>
            <a:off x="7044344" y="3157450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E3542-04E5-2A43-7A92-2533BFBE595A}"/>
              </a:ext>
            </a:extLst>
          </p:cNvPr>
          <p:cNvSpPr/>
          <p:nvPr/>
        </p:nvSpPr>
        <p:spPr>
          <a:xfrm>
            <a:off x="5700453" y="358964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BBCB2C-314F-7273-8F57-4E86CEEFCDD4}"/>
              </a:ext>
            </a:extLst>
          </p:cNvPr>
          <p:cNvSpPr/>
          <p:nvPr/>
        </p:nvSpPr>
        <p:spPr>
          <a:xfrm>
            <a:off x="7598526" y="3589641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79AAE1-792C-B5A6-D166-9EC9AC0C31A4}"/>
              </a:ext>
            </a:extLst>
          </p:cNvPr>
          <p:cNvSpPr/>
          <p:nvPr/>
        </p:nvSpPr>
        <p:spPr>
          <a:xfrm>
            <a:off x="5106786" y="3922441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CF7005-A33A-717F-6041-79190AFF88F2}"/>
              </a:ext>
            </a:extLst>
          </p:cNvPr>
          <p:cNvSpPr/>
          <p:nvPr/>
        </p:nvSpPr>
        <p:spPr>
          <a:xfrm>
            <a:off x="5700453" y="3943350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8A29B9-E775-D3ED-C53C-4147432AE175}"/>
              </a:ext>
            </a:extLst>
          </p:cNvPr>
          <p:cNvSpPr/>
          <p:nvPr/>
        </p:nvSpPr>
        <p:spPr>
          <a:xfrm>
            <a:off x="6362700" y="394081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0C221F-FB09-3041-953B-02955956D1FF}"/>
              </a:ext>
            </a:extLst>
          </p:cNvPr>
          <p:cNvSpPr/>
          <p:nvPr/>
        </p:nvSpPr>
        <p:spPr>
          <a:xfrm>
            <a:off x="7044344" y="4323591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0B2AD5-521C-86F4-63A4-37DDEA0E5330}"/>
              </a:ext>
            </a:extLst>
          </p:cNvPr>
          <p:cNvSpPr/>
          <p:nvPr/>
        </p:nvSpPr>
        <p:spPr>
          <a:xfrm>
            <a:off x="7609955" y="4323591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05FDD9-C847-4F9E-85E1-A781C99F4E5B}"/>
              </a:ext>
            </a:extLst>
          </p:cNvPr>
          <p:cNvSpPr/>
          <p:nvPr/>
        </p:nvSpPr>
        <p:spPr>
          <a:xfrm>
            <a:off x="5734743" y="3157449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228468-EC4E-F4F6-4160-96C636F85A67}"/>
              </a:ext>
            </a:extLst>
          </p:cNvPr>
          <p:cNvSpPr/>
          <p:nvPr/>
        </p:nvSpPr>
        <p:spPr>
          <a:xfrm>
            <a:off x="7618614" y="3157448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88D16B-BBED-A333-0DBC-6FBF2B8157C0}"/>
              </a:ext>
            </a:extLst>
          </p:cNvPr>
          <p:cNvSpPr/>
          <p:nvPr/>
        </p:nvSpPr>
        <p:spPr>
          <a:xfrm>
            <a:off x="5104015" y="356707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F7F676-5EB3-279D-80F9-1245E13A31E3}"/>
              </a:ext>
            </a:extLst>
          </p:cNvPr>
          <p:cNvSpPr/>
          <p:nvPr/>
        </p:nvSpPr>
        <p:spPr>
          <a:xfrm>
            <a:off x="6382097" y="356707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D75E3BF-FE1E-FCC5-FE2D-C3D408CDA531}"/>
              </a:ext>
            </a:extLst>
          </p:cNvPr>
          <p:cNvSpPr/>
          <p:nvPr/>
        </p:nvSpPr>
        <p:spPr>
          <a:xfrm>
            <a:off x="7044344" y="356707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A574CA-FC4C-CC93-2EAE-44EEC2518F7A}"/>
              </a:ext>
            </a:extLst>
          </p:cNvPr>
          <p:cNvSpPr/>
          <p:nvPr/>
        </p:nvSpPr>
        <p:spPr>
          <a:xfrm>
            <a:off x="7024947" y="394081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22CA97-7EF3-DC94-E942-F33B4A8CBD98}"/>
              </a:ext>
            </a:extLst>
          </p:cNvPr>
          <p:cNvSpPr/>
          <p:nvPr/>
        </p:nvSpPr>
        <p:spPr>
          <a:xfrm>
            <a:off x="7618614" y="394081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BB21A7-2BD9-6C89-37DE-842F8828AFFC}"/>
              </a:ext>
            </a:extLst>
          </p:cNvPr>
          <p:cNvSpPr/>
          <p:nvPr/>
        </p:nvSpPr>
        <p:spPr>
          <a:xfrm>
            <a:off x="5104015" y="4350432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83A90F-2D68-6A5D-1AFD-FD6096D8968F}"/>
              </a:ext>
            </a:extLst>
          </p:cNvPr>
          <p:cNvSpPr/>
          <p:nvPr/>
        </p:nvSpPr>
        <p:spPr>
          <a:xfrm>
            <a:off x="5700453" y="4350431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373C0B-4DA8-4645-1999-F674551372BA}"/>
              </a:ext>
            </a:extLst>
          </p:cNvPr>
          <p:cNvSpPr/>
          <p:nvPr/>
        </p:nvSpPr>
        <p:spPr>
          <a:xfrm>
            <a:off x="6362700" y="4350430"/>
            <a:ext cx="340822" cy="2410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453E55E4-698A-0AE3-D8D1-32D8D373A497}"/>
              </a:ext>
            </a:extLst>
          </p:cNvPr>
          <p:cNvSpPr/>
          <p:nvPr/>
        </p:nvSpPr>
        <p:spPr>
          <a:xfrm>
            <a:off x="4032366" y="3630456"/>
            <a:ext cx="409402" cy="3553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63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5EC9D-DC38-3F88-5783-89A8778D7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21DB7-8B68-FEE4-0579-2F5B41CC1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90361D-A28B-7F2D-786E-BC07701D3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581400"/>
          </a:xfrm>
        </p:spPr>
        <p:txBody>
          <a:bodyPr/>
          <a:lstStyle/>
          <a:p>
            <a:r>
              <a:rPr lang="en-US" dirty="0"/>
              <a:t>In machine learning, matrices are the way that we both store and manipulate information</a:t>
            </a:r>
          </a:p>
          <a:p>
            <a:endParaRPr lang="en-US" dirty="0"/>
          </a:p>
          <a:p>
            <a:r>
              <a:rPr lang="en-US" dirty="0"/>
              <a:t>Data: stored in a matrix </a:t>
            </a:r>
          </a:p>
          <a:p>
            <a:endParaRPr lang="en-US" dirty="0"/>
          </a:p>
          <a:p>
            <a:r>
              <a:rPr lang="en-US" dirty="0"/>
              <a:t>Prediction/regression: feature matrix</a:t>
            </a:r>
          </a:p>
          <a:p>
            <a:r>
              <a:rPr lang="en-US" dirty="0">
                <a:hlinkClick r:id="rId2"/>
              </a:rPr>
              <a:t>https://www.kaggle.com/datasets/iammustafatz/diabetes-prediction-dataset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700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457200" y="361950"/>
            <a:ext cx="8229600" cy="609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Definitions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Google Shape;63;p10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200150"/>
                <a:ext cx="8229600" cy="3429000"/>
              </a:xfrm>
              <a:prstGeom prst="rect">
                <a:avLst/>
              </a:prstGeom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: matrix with n rows and m columns, and each entry is a real number</a:t>
                </a: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endParaRPr lang="en-US" dirty="0"/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: a vector with n real numbers. By default, </a:t>
                </a:r>
                <a:r>
                  <a:rPr lang="en-US" i="1" dirty="0"/>
                  <a:t>column</a:t>
                </a:r>
                <a:r>
                  <a:rPr lang="en-US" dirty="0"/>
                  <a:t> vector (n rows, 1 column):</a:t>
                </a: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63" name="Google Shape;63;p1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200150"/>
                <a:ext cx="8229600" cy="3429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0006120-A53A-AFC0-4B11-DC345C27B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6364" y="2262643"/>
            <a:ext cx="1050055" cy="11503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41946-A789-7297-2FE0-491F90AEB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4DFA1C2-B380-6443-3853-F8F131D02C0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Entry of a matrix in row I, column j: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 err="1"/>
                  <a:t>jth</a:t>
                </a:r>
                <a:r>
                  <a:rPr lang="en-US" dirty="0"/>
                  <a:t> column of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 err="1"/>
                  <a:t>ith</a:t>
                </a:r>
                <a:r>
                  <a:rPr lang="en-US" dirty="0"/>
                  <a:t> row of A: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,: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4DFA1C2-B380-6443-3853-F8F131D02C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B61267B-5155-8F87-AE87-21B22716E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913" y="1757363"/>
            <a:ext cx="2219172" cy="9805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23635B-5112-FD07-057F-63B1D109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561" y="3072675"/>
            <a:ext cx="2293297" cy="87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77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EB7B-29AF-5D2E-6C12-D5DFDFFB2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Inner vector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1C4CE9B-8423-A152-8CF4-7CD07B33229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Also called “dot product”, denoted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1C4CE9B-8423-A152-8CF4-7CD07B3322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5F834FB-FD65-5882-F590-DFFC6DE82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77" y="2117930"/>
            <a:ext cx="437197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906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EE178-7A0D-EF10-AED3-709AC3F12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Outer vector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A6072ED-CD76-4893-4D5F-482DB2101C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sz="2000" b="0" dirty="0"/>
                  <a:t>Denoted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000" dirty="0"/>
                  <a:t> 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A6072ED-CD76-4893-4D5F-482DB2101C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A181405-723F-8058-E564-9BB11FD8A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07615"/>
            <a:ext cx="7691284" cy="23568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3AAA15-4F49-88FF-CDC8-180E0CEC2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52" y="1807615"/>
            <a:ext cx="2397842" cy="627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601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8C785-6F99-5983-B9EB-7655EBB0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multiplication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6B71C7-4912-7511-DB11-E2A5D800B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3045"/>
            <a:ext cx="5234695" cy="11356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8811CD-6BBF-6EC3-50D1-B080DFFEF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188" y="1414749"/>
            <a:ext cx="6282813" cy="4582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5D5793-4786-9622-922C-F9EB6CFFD0A0}"/>
                  </a:ext>
                </a:extLst>
              </p:cNvPr>
              <p:cNvSpPr txBox="1"/>
              <p:nvPr/>
            </p:nvSpPr>
            <p:spPr>
              <a:xfrm>
                <a:off x="3769536" y="3466967"/>
                <a:ext cx="1385025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: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:, 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5D5793-4786-9622-922C-F9EB6CFFD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536" y="3466967"/>
                <a:ext cx="1385025" cy="299313"/>
              </a:xfrm>
              <a:prstGeom prst="rect">
                <a:avLst/>
              </a:prstGeom>
              <a:blipFill>
                <a:blip r:embed="rId4"/>
                <a:stretch>
                  <a:fillRect l="-5702" b="-26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8EC00B-1FEC-40A1-AB43-A9280E1DF60D}"/>
              </a:ext>
            </a:extLst>
          </p:cNvPr>
          <p:cNvCxnSpPr>
            <a:cxnSpLocks/>
          </p:cNvCxnSpPr>
          <p:nvPr/>
        </p:nvCxnSpPr>
        <p:spPr>
          <a:xfrm flipV="1">
            <a:off x="4254910" y="3008671"/>
            <a:ext cx="317090" cy="361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269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7D60A-052D-1DD2-3541-CA019D037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Matrix-vector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DC426523-ED42-6455-F4EA-FC4567D5C81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and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, the product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en-US" dirty="0"/>
                  <a:t> is a vector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View 1: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DC426523-ED42-6455-F4EA-FC4567D5C8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6FBFD-D8A0-06EF-2ECC-6F37A926D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63" y="2241823"/>
            <a:ext cx="4587824" cy="187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416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7D60A-052D-1DD2-3541-CA019D037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Matrix-vector product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426523-ED42-6455-F4EA-FC4567D5C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57600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View 2: linear combination of columns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8D691D-DCBF-C36E-73E3-A1240ECFF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581150"/>
            <a:ext cx="4197299" cy="16824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0A89FF-76DD-836E-BB66-7C8FF0E21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3263612"/>
            <a:ext cx="5839616" cy="145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92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B3046-54AD-CD7D-B583-386CD1029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facts about matrix multiplication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8A832F-76EE-552C-6E60-16C41B824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03" y="1348811"/>
            <a:ext cx="8517194" cy="115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24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03BCF-2B94-706F-3C26-3BA9FB6E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transpose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96D84E3-484F-2737-364E-0FA158FFBDD7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Reverses the rows and columns.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Properties: </a:t>
                </a:r>
              </a:p>
              <a:p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96D84E3-484F-2737-364E-0FA158FFBD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0C14D3D-8B8B-C017-4AAA-83BF5B37B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182" y="1622784"/>
            <a:ext cx="3733954" cy="7864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6DB802-5777-91B7-CD51-D48F6F7ED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2" y="3180348"/>
            <a:ext cx="2305358" cy="1173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632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FE32D-5D3C-8136-79E2-BBE7EA222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F0638-2B38-B30F-4377-1AD678234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trace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66979695-0F72-B830-0005-7427EC59D46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Takes the sum of the diagonal elements of a square matrix.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66979695-0F72-B830-0005-7427EC59D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2484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F15F3-2C6E-E4EE-1BAA-A6929E82D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Whiteboard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EC4E5D-1C0F-76CB-CC13-856C91063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+Calculating products</a:t>
            </a:r>
          </a:p>
          <a:p>
            <a:r>
              <a:rPr lang="en-US" dirty="0"/>
              <a:t>+Illegal operations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4233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8623D-FC8D-B286-D92E-8F98D11C3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P-norms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97B620-B7CD-2D35-2968-9A7F64DD99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Whiteboard: definitions, examples</a:t>
            </a:r>
          </a:p>
        </p:txBody>
      </p:sp>
    </p:spTree>
    <p:extLst>
      <p:ext uri="{BB962C8B-B14F-4D97-AF65-F5344CB8AC3E}">
        <p14:creationId xmlns:p14="http://schemas.microsoft.com/office/powerpoint/2010/main" val="950147251"/>
      </p:ext>
    </p:extLst>
  </p:cSld>
  <p:clrMapOvr>
    <a:masterClrMapping/>
  </p:clrMapOvr>
</p:sld>
</file>

<file path=ppt/theme/theme1.xml><?xml version="1.0" encoding="utf-8"?>
<a:theme xmlns:a="http://schemas.openxmlformats.org/drawingml/2006/main" name="CMU PPT Theme">
  <a:themeElements>
    <a:clrScheme name="Custom 1">
      <a:dk1>
        <a:srgbClr val="000000"/>
      </a:dk1>
      <a:lt1>
        <a:srgbClr val="FFFFFF"/>
      </a:lt1>
      <a:dk2>
        <a:srgbClr val="75787B"/>
      </a:dk2>
      <a:lt2>
        <a:srgbClr val="C8C9C7"/>
      </a:lt2>
      <a:accent1>
        <a:srgbClr val="BB0000"/>
      </a:accent1>
      <a:accent2>
        <a:srgbClr val="75787B"/>
      </a:accent2>
      <a:accent3>
        <a:srgbClr val="00833C"/>
      </a:accent3>
      <a:accent4>
        <a:srgbClr val="F2A900"/>
      </a:accent4>
      <a:accent5>
        <a:srgbClr val="002C71"/>
      </a:accent5>
      <a:accent6>
        <a:srgbClr val="C8C9C7"/>
      </a:accent6>
      <a:hlink>
        <a:srgbClr val="BB0000"/>
      </a:hlink>
      <a:folHlink>
        <a:srgbClr val="82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4354</TotalTime>
  <Words>408</Words>
  <Application>Microsoft Macintosh PowerPoint</Application>
  <PresentationFormat>On-screen Show (16:9)</PresentationFormat>
  <Paragraphs>126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Helvetica Neue Light</vt:lpstr>
      <vt:lpstr>Open Sans Light</vt:lpstr>
      <vt:lpstr>Open Sans</vt:lpstr>
      <vt:lpstr>Cambria Math</vt:lpstr>
      <vt:lpstr>CMU PPT Theme</vt:lpstr>
      <vt:lpstr>PowerPoint Presentation</vt:lpstr>
      <vt:lpstr>Announcements</vt:lpstr>
      <vt:lpstr>Linear algebra</vt:lpstr>
      <vt:lpstr>Linear algebra</vt:lpstr>
      <vt:lpstr>Linear algebra</vt:lpstr>
      <vt:lpstr>Linear algebra</vt:lpstr>
      <vt:lpstr>Definitions</vt:lpstr>
      <vt:lpstr>Definitions</vt:lpstr>
      <vt:lpstr>Inner vector product</vt:lpstr>
      <vt:lpstr>Outer vector product</vt:lpstr>
      <vt:lpstr>Matrix multiplication</vt:lpstr>
      <vt:lpstr>Matrix-vector product</vt:lpstr>
      <vt:lpstr>Matrix-vector product</vt:lpstr>
      <vt:lpstr>Useful facts about matrix multiplication</vt:lpstr>
      <vt:lpstr>Matrix transpose</vt:lpstr>
      <vt:lpstr>Matrix trace</vt:lpstr>
      <vt:lpstr>Whiteboard</vt:lpstr>
      <vt:lpstr>P-norms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Wilder, Bryan</dc:creator>
  <cp:lastModifiedBy>Bryan Wilder</cp:lastModifiedBy>
  <cp:revision>28</cp:revision>
  <dcterms:modified xsi:type="dcterms:W3CDTF">2026-08-24T21:43:21Z</dcterms:modified>
</cp:coreProperties>
</file>