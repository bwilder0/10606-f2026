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26"/>
  </p:notesMasterIdLst>
  <p:sldIdLst>
    <p:sldId id="256" r:id="rId2"/>
    <p:sldId id="301" r:id="rId3"/>
    <p:sldId id="258" r:id="rId4"/>
    <p:sldId id="299" r:id="rId5"/>
    <p:sldId id="262" r:id="rId6"/>
    <p:sldId id="264" r:id="rId7"/>
    <p:sldId id="265" r:id="rId8"/>
    <p:sldId id="306" r:id="rId9"/>
    <p:sldId id="307" r:id="rId10"/>
    <p:sldId id="308" r:id="rId11"/>
    <p:sldId id="310" r:id="rId12"/>
    <p:sldId id="311" r:id="rId13"/>
    <p:sldId id="312" r:id="rId14"/>
    <p:sldId id="324" r:id="rId15"/>
    <p:sldId id="316" r:id="rId16"/>
    <p:sldId id="323" r:id="rId17"/>
    <p:sldId id="313" r:id="rId18"/>
    <p:sldId id="318" r:id="rId19"/>
    <p:sldId id="319" r:id="rId20"/>
    <p:sldId id="314" r:id="rId21"/>
    <p:sldId id="320" r:id="rId22"/>
    <p:sldId id="315" r:id="rId23"/>
    <p:sldId id="321" r:id="rId24"/>
    <p:sldId id="322" r:id="rId2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Open Sans Light" panose="020B0306030504020204" pitchFamily="34" charset="0"/>
      <p:regular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06" autoAdjust="0"/>
    <p:restoredTop sz="93014"/>
  </p:normalViewPr>
  <p:slideViewPr>
    <p:cSldViewPr snapToGrid="0">
      <p:cViewPr varScale="1">
        <p:scale>
          <a:sx n="151" d="100"/>
          <a:sy n="151" d="100"/>
        </p:scale>
        <p:origin x="33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5675e5a86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5675e5a86c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Example: functional -&gt; integral, operator -&gt; identity function. Example of a linear function: derivative</a:t>
            </a:r>
            <a:endParaRPr dirty="0"/>
          </a:p>
        </p:txBody>
      </p:sp>
      <p:sp>
        <p:nvSpPr>
          <p:cNvPr id="64" name="Google Shape;64;g15675e5a86c_0_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3378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5675e5a86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5675e5a86c_0_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15675e5a86c_0_8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5675e5a86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5675e5a86c_0_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15675e5a86c_0_8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0824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675e5a86c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675e5a86c_0_1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math.libretexts.org</a:t>
            </a:r>
            <a:r>
              <a:rPr lang="en-US" dirty="0"/>
              <a:t>/Bookshelves/</a:t>
            </a:r>
            <a:r>
              <a:rPr lang="en-US" dirty="0" err="1"/>
              <a:t>Linear_Algebra</a:t>
            </a:r>
            <a:r>
              <a:rPr lang="en-US" dirty="0"/>
              <a:t>/</a:t>
            </a:r>
            <a:r>
              <a:rPr lang="en-US" dirty="0" err="1"/>
              <a:t>A_First_Course_in_Linear_Algebra</a:t>
            </a:r>
            <a:r>
              <a:rPr lang="en-US" dirty="0"/>
              <a:t>_(Kuttler)/05%3A_Linear_Transformations/5.02%3A_The_Matrix_of_a_Linear_Transformation_I</a:t>
            </a:r>
            <a:endParaRPr dirty="0"/>
          </a:p>
        </p:txBody>
      </p:sp>
      <p:sp>
        <p:nvSpPr>
          <p:cNvPr id="144" name="Google Shape;144;g15675e5a86c_0_12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5675e5a86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5675e5a86c_0_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15675e5a86c_0_4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also a visual example of a linear transformation, </a:t>
            </a:r>
            <a:r>
              <a:rPr lang="en-US" dirty="0" err="1"/>
              <a:t>diag</a:t>
            </a:r>
            <a:r>
              <a:rPr lang="en-US" dirty="0"/>
              <a:t>([1 2]) vs </a:t>
            </a:r>
            <a:r>
              <a:rPr lang="en-US" dirty="0" err="1"/>
              <a:t>diag</a:t>
            </a:r>
            <a:r>
              <a:rPr lang="en-US" dirty="0"/>
              <a:t>([1 0]) and how the low-rank matrix projects to a lower dimensional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7171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Whiteboard: examples of stretching, flipping,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95754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9D44-8A59-7C66-CD3C-B626D8EC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116D7-5E52-1EDB-152E-560DC20D8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E12B0-9038-F1B8-236D-FEFB649BE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Whiteboard: examples of stretching, flipping,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1E61A-1DCB-8E6B-266E-82729DE510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65710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81891-18CC-965A-CE7B-2BD100AB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715FC-EFC5-F190-F1CA-529E2D068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E328F-2A62-9AD2-AFD7-DDC46A361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B796D-88A8-2C8C-0675-3D493CD5AA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6858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D3051-E67D-8635-08E3-84F2B715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8909E-8465-E66F-C25C-603EA9EA8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25596-9EBB-1C54-BBE1-1E666FF8B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1C591-F40C-0C9A-33D1-D49987A24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65840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5518D-F044-D25A-1D0F-E2F638C81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68D12-C432-0BF4-C682-C23162470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6B736-FCA5-31F1-DA5A-EE5287162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485AC-D341-FB64-552A-1B9A48D1E6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33967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F0B6-4349-D993-16CD-165EDBBE5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68B5F-D1D3-1C7F-3772-2BDA2D623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88095-8307-0308-79C8-A93A11C1B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6DEF2-73BF-5EFC-5A02-5863911AA7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271627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35B92-CA03-AF69-02C4-3B8F6BA8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48782-7271-418D-8E29-30DE334F3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31600-875E-751A-98D5-4996519CC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F2D0F-8652-69BD-0EB1-02EBA92227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80854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DC747-EADD-5735-7101-10BC34D82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88538-3F01-E1C3-E368-E25BA1435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9FD59-9F1B-3629-92A8-5FC186423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lpsa.swarthmore.edu</a:t>
            </a:r>
            <a:r>
              <a:rPr lang="en-US" dirty="0"/>
              <a:t>/</a:t>
            </a:r>
            <a:r>
              <a:rPr lang="en-US" dirty="0" err="1"/>
              <a:t>MtrxVibe</a:t>
            </a:r>
            <a:r>
              <a:rPr lang="en-US" dirty="0"/>
              <a:t>/</a:t>
            </a:r>
            <a:r>
              <a:rPr lang="en-US" dirty="0" err="1"/>
              <a:t>EigMat</a:t>
            </a:r>
            <a:r>
              <a:rPr lang="en-US" dirty="0"/>
              <a:t>/</a:t>
            </a:r>
            <a:r>
              <a:rPr lang="en-US" dirty="0" err="1"/>
              <a:t>MatrixEigen.html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86B9E-3948-9C83-A133-B100C8932A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00870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ED18-76E3-8514-7E25-B1383E0B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5B21A-8B31-6F61-7CD4-5463785DC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17ACB-42BE-50B1-5C9C-D58B1FD55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3085D-C3D5-CFD5-5203-B36EDC9F32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25944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CE533-9D27-BA7C-D69E-D2526630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EC149-6D43-44A2-E9F5-C21747C2E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89E86-B15A-6E7E-F069-4EED58DD9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0BC25-B417-198C-4DFB-897510696F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30704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4708-8180-DE07-80C5-A3C76BA26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3390D-3228-F9E3-5D85-6F9241B82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9E95F-4E09-09FC-D097-D7D712B38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Multiplication by </a:t>
            </a:r>
            <a:r>
              <a:rPr lang="en-US" dirty="0" err="1"/>
              <a:t>diag</a:t>
            </a:r>
            <a:r>
              <a:rPr lang="en-US" dirty="0"/>
              <a:t>([1,0])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1A5A0-7954-DF89-07BD-2998BE0E2F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719765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60407-809E-CE03-117C-2B2A8B02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5CB97-4FC3-5EA9-F423-64F51120A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A4A45-E4EE-706F-6555-69BA32973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DAB7B-F3BA-AB0C-7E1E-E739E88438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59332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A2D28-9185-B168-739C-8A4A8CD64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63128-497B-86D9-92EA-938EB810F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F933D-FB69-3EC8-9DA1-7BB265BA2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25BDA-C061-3371-2EED-8003E108A2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316626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542353b19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542353b19a_0_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 is positive semi-definite if and only if all of its eigenvalues are non-negative.</a:t>
            </a:r>
            <a:endParaRPr/>
          </a:p>
        </p:txBody>
      </p:sp>
      <p:sp>
        <p:nvSpPr>
          <p:cNvPr id="122" name="Google Shape;122;g1542353b19a_0_6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639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11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5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0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0"/>
          <p:cNvSpPr txBox="1"/>
          <p:nvPr/>
        </p:nvSpPr>
        <p:spPr>
          <a:xfrm>
            <a:off x="2133600" y="1504950"/>
            <a:ext cx="6798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Mathematical Foundations for ML (10-606):</a:t>
            </a:r>
            <a:endParaRPr sz="24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9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Linear Operators, Rank, and Eigenvalues</a:t>
            </a:r>
            <a:endParaRPr sz="39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Functions on Vector Spaces</a:t>
            </a:r>
            <a:endParaRPr dirty="0"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f: V → W where V and W are (potentially abstract) vector spaces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Functionals: </a:t>
            </a:r>
            <a:endParaRPr dirty="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f: V → R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Operators: </a:t>
            </a:r>
            <a:endParaRPr dirty="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f: V → V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Linear functions: f(a</a:t>
            </a:r>
            <a:r>
              <a:rPr lang="en-US" b="1" dirty="0"/>
              <a:t>x</a:t>
            </a:r>
            <a:r>
              <a:rPr lang="en-US" dirty="0"/>
              <a:t> + b</a:t>
            </a:r>
            <a:r>
              <a:rPr lang="en-US" b="1" dirty="0"/>
              <a:t>y</a:t>
            </a:r>
            <a:r>
              <a:rPr lang="en-US" dirty="0"/>
              <a:t>) = a f(</a:t>
            </a:r>
            <a:r>
              <a:rPr lang="en-US" b="1" dirty="0"/>
              <a:t>x</a:t>
            </a:r>
            <a:r>
              <a:rPr lang="en-US" dirty="0"/>
              <a:t>) + b f(</a:t>
            </a:r>
            <a:r>
              <a:rPr lang="en-US" b="1" dirty="0"/>
              <a:t>y</a:t>
            </a:r>
            <a:r>
              <a:rPr lang="en-US" dirty="0"/>
              <a:t>)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affine=linear + constant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6156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Coordinate Systems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Google Shape;74;p1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317500" algn="l" rtl="0">
                  <a:spcBef>
                    <a:spcPts val="6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lang="en-US" u="sng" dirty="0"/>
                  <a:t>Abstract</a:t>
                </a:r>
                <a:r>
                  <a:rPr lang="en-US" dirty="0"/>
                  <a:t> (coordinate-free) vs. </a:t>
                </a:r>
                <a:r>
                  <a:rPr lang="en-US" u="sng" dirty="0"/>
                  <a:t>concrete</a:t>
                </a:r>
                <a:r>
                  <a:rPr lang="en-US" dirty="0"/>
                  <a:t> (indexed coordinates) vector spaces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457200" lvl="0" indent="-317500" algn="l" rtl="0">
                  <a:spcBef>
                    <a:spcPts val="6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lang="en-US" dirty="0"/>
                  <a:t>A </a:t>
                </a:r>
                <a:r>
                  <a:rPr lang="en-US" b="1" dirty="0"/>
                  <a:t>coordinate system</a:t>
                </a:r>
                <a:r>
                  <a:rPr lang="en-US" dirty="0"/>
                  <a:t> is a mapping from an abstract to a concrete vector spaces</a:t>
                </a:r>
              </a:p>
              <a:p>
                <a:pPr marL="457200" lvl="0" indent="-317500" algn="l" rtl="0">
                  <a:spcBef>
                    <a:spcPts val="600"/>
                  </a:spcBef>
                  <a:spcAft>
                    <a:spcPts val="0"/>
                  </a:spcAft>
                  <a:buSzPts val="1400"/>
                  <a:buChar char="●"/>
                </a:pPr>
                <a:endParaRPr lang="en-US" dirty="0"/>
              </a:p>
              <a:p>
                <a:pPr marL="457200" lvl="0" indent="-317500" algn="l" rtl="0">
                  <a:spcBef>
                    <a:spcPts val="6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lang="en-US" dirty="0"/>
                  <a:t>Typically induced by the coefficients on the elements of a basis</a:t>
                </a:r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:endParaRPr lang="en-US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..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Google Shape;74;p1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Coordinate Systems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Google Shape;74;p1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:endParaRPr lang="en-US" dirty="0"/>
              </a:p>
              <a:p>
                <a:pPr marL="139700" lvl="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139700" lvl="0" indent="0"/>
                <a:endParaRPr lang="en-US" dirty="0"/>
              </a:p>
              <a:p>
                <a:pPr marL="139700" lvl="0" indent="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139700" lvl="0" indent="0"/>
                <a:endParaRPr lang="en-US" dirty="0"/>
              </a:p>
              <a:p>
                <a:pPr marL="139700" lvl="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Google Shape;74;p1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185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Coordinate Representation of Linear Functions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Google Shape;147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317500" algn="l" rtl="0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●"/>
                </a:pPr>
                <a:r>
                  <a:rPr lang="en-US" dirty="0"/>
                  <a:t>Consider linear function ℓ: X→Y (</a:t>
                </a:r>
                <a:r>
                  <a:rPr lang="en-US" dirty="0" err="1"/>
                  <a:t>s.t.</a:t>
                </a:r>
                <a:r>
                  <a:rPr lang="en-US" dirty="0"/>
                  <a:t>, ℓ(a</a:t>
                </a:r>
                <a:r>
                  <a:rPr lang="en-US" b="1" dirty="0"/>
                  <a:t>x</a:t>
                </a:r>
                <a:r>
                  <a:rPr lang="en-US" baseline="-25000" dirty="0"/>
                  <a:t>1</a:t>
                </a:r>
                <a:r>
                  <a:rPr lang="en-US" dirty="0"/>
                  <a:t>+ b</a:t>
                </a:r>
                <a:r>
                  <a:rPr lang="en-US" b="1" dirty="0"/>
                  <a:t>x</a:t>
                </a:r>
                <a:r>
                  <a:rPr lang="en-US" baseline="-25000" dirty="0"/>
                  <a:t>2</a:t>
                </a:r>
                <a:r>
                  <a:rPr lang="en-US" dirty="0"/>
                  <a:t>) = a ℓ(</a:t>
                </a:r>
                <a:r>
                  <a:rPr lang="en-US" b="1" dirty="0"/>
                  <a:t>x</a:t>
                </a:r>
                <a:r>
                  <a:rPr lang="en-US" baseline="-25000" dirty="0"/>
                  <a:t>1</a:t>
                </a:r>
                <a:r>
                  <a:rPr lang="en-US" dirty="0"/>
                  <a:t>) + b ℓ(</a:t>
                </a:r>
                <a:r>
                  <a:rPr lang="en-US" b="1" dirty="0"/>
                  <a:t>x</a:t>
                </a:r>
                <a:r>
                  <a:rPr lang="en-US" baseline="-25000" dirty="0"/>
                  <a:t>2</a:t>
                </a:r>
                <a:r>
                  <a:rPr lang="en-US" dirty="0"/>
                  <a:t>))</a:t>
                </a:r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</a:pPr>
                <a:endParaRPr lang="en-US" dirty="0"/>
              </a:p>
              <a:p>
                <a:pPr marL="914400" lvl="1" indent="-354330" algn="l" rtl="0">
                  <a:spcBef>
                    <a:spcPts val="0"/>
                  </a:spcBef>
                  <a:spcAft>
                    <a:spcPts val="0"/>
                  </a:spcAft>
                  <a:buSzPts val="1980"/>
                  <a:buChar char="○"/>
                </a:pPr>
                <a:r>
                  <a:rPr lang="en-US" dirty="0"/>
                  <a:t>X with bases {b</a:t>
                </a:r>
                <a:r>
                  <a:rPr lang="en-US" baseline="-25000" dirty="0"/>
                  <a:t>1</a:t>
                </a:r>
                <a:r>
                  <a:rPr lang="en-US" dirty="0"/>
                  <a:t>, …, b</a:t>
                </a:r>
                <a:r>
                  <a:rPr lang="en-US" baseline="-25000" dirty="0"/>
                  <a:t>n</a:t>
                </a:r>
                <a:r>
                  <a:rPr lang="en-US" dirty="0"/>
                  <a:t>} and Y with basis {c</a:t>
                </a:r>
                <a:r>
                  <a:rPr lang="en-US" baseline="-25000" dirty="0"/>
                  <a:t>1</a:t>
                </a:r>
                <a:r>
                  <a:rPr lang="en-US" dirty="0"/>
                  <a:t>, …, c</a:t>
                </a:r>
                <a:r>
                  <a:rPr lang="en-US" baseline="-25000" dirty="0"/>
                  <a:t>m</a:t>
                </a:r>
                <a:r>
                  <a:rPr lang="en-US" dirty="0"/>
                  <a:t>}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457200" lvl="0" indent="-317500" algn="l" rtl="0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●"/>
                </a:pPr>
                <a:r>
                  <a:rPr lang="en-US" b="1" dirty="0"/>
                  <a:t>Goal:</a:t>
                </a:r>
                <a:r>
                  <a:rPr lang="en-US" dirty="0"/>
                  <a:t> find a linear representation of ℓ, denoted by matrix </a:t>
                </a:r>
                <a:r>
                  <a:rPr lang="en-US" dirty="0" err="1"/>
                  <a:t>L∈R</a:t>
                </a:r>
                <a:r>
                  <a:rPr lang="en-US" baseline="30000" dirty="0" err="1"/>
                  <a:t>m×n</a:t>
                </a:r>
                <a:r>
                  <a:rPr lang="en-US" dirty="0"/>
                  <a:t>,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</a:p>
              <a:p>
                <a:pPr marL="457200" lvl="0" indent="0" algn="ctr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ℓ(</a:t>
                </a:r>
                <a:r>
                  <a:rPr lang="en-US" b="1" dirty="0"/>
                  <a:t>x</a:t>
                </a:r>
                <a:r>
                  <a:rPr lang="en-US" dirty="0"/>
                  <a:t>) = </a:t>
                </a:r>
                <a:r>
                  <a:rPr lang="en-US" b="1" dirty="0"/>
                  <a:t>y</a:t>
                </a:r>
                <a:r>
                  <a:rPr lang="en-US" dirty="0"/>
                  <a:t> ⇔  L </a:t>
                </a:r>
                <a:r>
                  <a:rPr lang="en-US" b="1" dirty="0"/>
                  <a:t>u</a:t>
                </a:r>
                <a:r>
                  <a:rPr lang="en-US" dirty="0"/>
                  <a:t> = </a:t>
                </a:r>
                <a:r>
                  <a:rPr lang="en-US" b="1" dirty="0"/>
                  <a:t>v</a:t>
                </a:r>
              </a:p>
              <a:p>
                <a:pPr marL="457200" lvl="0" indent="0" algn="ctr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47" name="Google Shape;147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Rank of a function or matrix</a:t>
            </a:r>
            <a:endParaRPr dirty="0"/>
          </a:p>
        </p:txBody>
      </p:sp>
      <p:sp>
        <p:nvSpPr>
          <p:cNvPr id="162" name="Google Shape;162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Recall: for any f: X→ Y, range(f) = {f(</a:t>
            </a:r>
            <a:r>
              <a:rPr lang="en-US" b="1" dirty="0"/>
              <a:t>x</a:t>
            </a:r>
            <a:r>
              <a:rPr lang="en-US" dirty="0"/>
              <a:t>)| </a:t>
            </a:r>
            <a:r>
              <a:rPr lang="en-US" b="1" dirty="0"/>
              <a:t>x</a:t>
            </a:r>
            <a:r>
              <a:rPr lang="en-US" dirty="0"/>
              <a:t> ∈ X}.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Suppose </a:t>
            </a:r>
            <a:r>
              <a:rPr lang="en-US" dirty="0"/>
              <a:t>ℓ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: X→ Y is a linear transformation represented by </a:t>
            </a:r>
            <a:r>
              <a:rPr lang="en-US" dirty="0"/>
              <a:t>matrix L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.</a:t>
            </a:r>
            <a:endParaRPr b="1"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rank(ℓ) = dim(range(ℓ))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rank(ℓ) = rank(L) = the dimension of the vector space spanned by columns of L.</a:t>
            </a:r>
          </a:p>
          <a:p>
            <a:pPr lvl="1">
              <a:spcBef>
                <a:spcPts val="0"/>
              </a:spcBef>
              <a:buFont typeface="Arial"/>
              <a:buChar char="○"/>
            </a:pPr>
            <a:r>
              <a:rPr lang="en-US" dirty="0"/>
              <a:t>= the dimension of the vector space spanned by </a:t>
            </a:r>
            <a:r>
              <a:rPr lang="en-US" i="1" dirty="0"/>
              <a:t>rows</a:t>
            </a:r>
            <a:r>
              <a:rPr lang="en-US" dirty="0"/>
              <a:t> of L.</a:t>
            </a:r>
          </a:p>
          <a:p>
            <a:pPr lvl="1">
              <a:spcBef>
                <a:spcPts val="0"/>
              </a:spcBef>
              <a:buFont typeface="Arial"/>
              <a:buChar char="○"/>
            </a:pPr>
            <a:r>
              <a:rPr lang="en-US" dirty="0"/>
              <a:t>= the number of linearly independent rows of L</a:t>
            </a:r>
          </a:p>
          <a:p>
            <a:pPr lvl="1">
              <a:spcBef>
                <a:spcPts val="0"/>
              </a:spcBef>
              <a:buFont typeface="Arial"/>
              <a:buChar char="○"/>
            </a:pPr>
            <a:r>
              <a:rPr lang="en-US" dirty="0"/>
              <a:t>= the number of linearly independent columns of L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endParaRPr lang="en-US"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C264-6BDA-AE3A-B6E5-A1883C9B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Whiteboard: examples of rank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1B62C-C111-B881-48ED-42C021170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422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328D3-57C9-F83F-0003-DDD69ADC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39BE69-1BC3-47E0-39A8-B60BB2BBFD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Eigenvectors and eigenvalues are a tool to describe how a matrix acts as a linear function</a:t>
                </a:r>
              </a:p>
              <a:p>
                <a:endParaRPr lang="en-US" dirty="0"/>
              </a:p>
              <a:p>
                <a:r>
                  <a:rPr lang="en-US" dirty="0"/>
                  <a:t>Recall: matrix multiplication is a linear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mapping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When we multiply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what happens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? Which directions get bigger, which smaller?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get flipped or rotated?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39BE69-1BC3-47E0-39A8-B60BB2BBFD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32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BF49F-C589-E8A0-AF92-CBB14AF8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84B7-81D1-6EBE-D252-A1B44FD3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1C5732-DA2D-024E-7F22-1CCAB04B684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 </a:t>
                </a:r>
                <a:r>
                  <a:rPr lang="en-US" b="1" dirty="0"/>
                  <a:t>eigenvector</a:t>
                </a:r>
                <a:r>
                  <a:rPr lang="en-US" dirty="0"/>
                  <a:t> of a square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a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that is only “stretched” when multiplied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 it gets longer or shorter, but still points along the same axis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dirty="0"/>
              </a:p>
              <a:p>
                <a:pPr algn="ctr"/>
                <a:endParaRPr lang="en-US" dirty="0"/>
              </a:p>
              <a:p>
                <a:r>
                  <a:rPr lang="en-US" dirty="0"/>
                  <a:t>The multiplier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b="1" dirty="0"/>
                  <a:t>eigenvalue</a:t>
                </a:r>
                <a:r>
                  <a:rPr lang="en-US" dirty="0"/>
                  <a:t> corresponding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: multiplying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makes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longer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: multiplying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makes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shorter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: multiplying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rotates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to the </a:t>
                </a:r>
                <a:r>
                  <a:rPr lang="en-US" i="1" dirty="0"/>
                  <a:t>opposite</a:t>
                </a:r>
                <a:r>
                  <a:rPr lang="en-US" dirty="0"/>
                  <a:t> direction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1C5732-DA2D-024E-7F22-1CCAB04B68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905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AAA8B-CD6E-9D9B-BEC9-70A5E2EAD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0C4C-7EED-AC19-942A-7A3BA3064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EA80EC8-8231-D749-1493-FEF3ED9E1E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 </a:t>
                </a:r>
                <a:r>
                  <a:rPr lang="en-US" b="1" dirty="0"/>
                  <a:t>eigenvector</a:t>
                </a:r>
                <a:r>
                  <a:rPr lang="en-US" dirty="0"/>
                  <a:t> of a square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a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that is only “stretched” when multiplied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 it gets longer or shorter, but still points along the same axis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dirty="0"/>
              </a:p>
              <a:p>
                <a:pPr algn="ctr"/>
                <a:endParaRPr lang="en-US" dirty="0"/>
              </a:p>
              <a:p>
                <a:r>
                  <a:rPr lang="en-US" dirty="0"/>
                  <a:t>Note: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an eigenvector, then so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𝑐𝑣</m:t>
                    </m:r>
                  </m:oMath>
                </a14:m>
                <a:r>
                  <a:rPr lang="en-US" dirty="0"/>
                  <a:t>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…eigenvectors are not unique</a:t>
                </a:r>
              </a:p>
              <a:p>
                <a:endParaRPr lang="en-US" dirty="0"/>
              </a:p>
              <a:p>
                <a:r>
                  <a:rPr lang="en-US" dirty="0"/>
                  <a:t>But, the eigen</a:t>
                </a:r>
                <a:r>
                  <a:rPr lang="en-US" b="1" dirty="0"/>
                  <a:t>values</a:t>
                </a:r>
                <a:r>
                  <a:rPr lang="en-US" dirty="0"/>
                  <a:t> are unique: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matrix has up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distinct eigenvalues</a:t>
                </a:r>
              </a:p>
              <a:p>
                <a:r>
                  <a:rPr lang="en-US" dirty="0"/>
                  <a:t>Usually, for each eigenvalue we refer to the eigenvector normalized to have length 1 (but not always, just depends on context)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EA80EC8-8231-D749-1493-FEF3ED9E1E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057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8251-001B-21A0-42C0-65697B6DF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76BE-4D2F-E95E-E42E-0CA8B7C09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3F73031-5485-0B2F-ED97-D58A456646B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One eigenvalue can </a:t>
                </a:r>
                <a:r>
                  <a:rPr lang="en-US"/>
                  <a:t>correspond to </a:t>
                </a:r>
                <a:r>
                  <a:rPr lang="en-US" i="1" dirty="0"/>
                  <a:t>multiple</a:t>
                </a:r>
                <a:r>
                  <a:rPr lang="en-US" dirty="0"/>
                  <a:t> eigenvectors</a:t>
                </a:r>
              </a:p>
              <a:p>
                <a:endParaRPr lang="en-US" dirty="0"/>
              </a:p>
              <a:p>
                <a:r>
                  <a:rPr lang="en-US" dirty="0"/>
                  <a:t>Example: identity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has a single eigenvalue: 1 and </a:t>
                </a:r>
                <a:r>
                  <a:rPr lang="en-US" i="1" dirty="0"/>
                  <a:t>every</a:t>
                </a:r>
                <a:r>
                  <a:rPr lang="en-US" dirty="0"/>
                  <a:t> non-zero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an eigenvector</a:t>
                </a:r>
              </a:p>
              <a:p>
                <a:endParaRPr lang="en-US" dirty="0"/>
              </a:p>
              <a:p>
                <a:r>
                  <a:rPr lang="en-US" dirty="0"/>
                  <a:t>In general, suppose that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eigenvectors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with eigenvalues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Then, 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That is, any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also an eigenvector with the same eigenvalue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3F73031-5485-0B2F-ED97-D58A456646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832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D683-9CD1-412B-14BB-5C4D18B03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C885-ED79-E53E-ED2D-8B683B6E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2C6474E-BFEA-DE94-BCD9-0A921CBB755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Any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also an eigenvector with the same eigenvalue</a:t>
                </a:r>
              </a:p>
              <a:p>
                <a:endParaRPr lang="en-US" dirty="0"/>
              </a:p>
              <a:p>
                <a:r>
                  <a:rPr lang="en-US" dirty="0"/>
                  <a:t>This implies that for any eigenvalue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forms a vector space (</a:t>
                </a:r>
                <a:r>
                  <a:rPr lang="en-US" i="1" dirty="0"/>
                  <a:t>eigenspace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Often, we will fix a set of eigenvectors that form an orthogonal basis for that vector space</a:t>
                </a:r>
              </a:p>
              <a:p>
                <a:r>
                  <a:rPr lang="en-US" dirty="0"/>
                  <a:t>(</a:t>
                </a:r>
                <a:r>
                  <a:rPr lang="en-US" i="1" dirty="0" err="1"/>
                  <a:t>eigenbasis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2C6474E-BFEA-DE94-BCD9-0A921CBB75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822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3F834-FCB0-16D0-5D99-61D97B7F7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EC15E-CB4F-BC6E-7B48-9891307C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Eigenvalues and 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CD5C06-C2CF-8141-42BF-076057C658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Back to geometrically understanding multiplication by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linearly independent eigenvectors (eigenspace is equal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corresponding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Consider product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𝐴𝑤</m:t>
                    </m:r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a basis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: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for some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 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Interpretation of matrix multiplication: express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in the basis of eigenvectors, and scale component in each basis by the corresponding eigenvalue!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CD5C06-C2CF-8141-42BF-076057C658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514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64709-4BDD-552A-5A3F-83113089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0363-FA46-80BD-7506-347C668C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4E3DFB-6C61-81FA-33B1-E80E18F20D3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are eigenvectors and eigenvalues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4E3DFB-6C61-81FA-33B1-E80E18F20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911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457F-B484-14DA-F35B-7A2E6F3E7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A8D8-E12B-CF8C-D9E4-6443A1035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 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1865E-3688-692B-ACD3-0D349C4C986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A1865E-3688-692B-ACD3-0D349C4C98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40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39774-A899-F205-F121-E5F27C95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F2DC1-135B-F83F-BCA5-C4640E39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 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252CA-D328-FC53-220D-BECC41F9888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252CA-D328-FC53-220D-BECC41F988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20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26228-6B89-8922-268A-E76AF571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CFA9-98FC-C31D-AC9A-D3DC12D3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if an eigenvalue is 0?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63141B-0852-720F-1B2E-D03371F3E3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0. Then, 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𝐴𝑤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 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 …+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That is, the component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along the eigenvector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gets zeroed out! </a:t>
                </a:r>
              </a:p>
              <a:p>
                <a:endParaRPr lang="en-US" dirty="0"/>
              </a:p>
              <a:p>
                <a:r>
                  <a:rPr lang="en-US" dirty="0"/>
                  <a:t>Any output of the linear function defined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belongs to the lower-dimensional vector space spanned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-&gt; A is </a:t>
                </a:r>
                <a:r>
                  <a:rPr lang="en-US"/>
                  <a:t>not full rank</a:t>
                </a:r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63141B-0852-720F-1B2E-D03371F3E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974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255C62-0125-DCFC-F93D-00349B0F1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CD09-1EE0-3977-5847-ABC5C5C4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Eigendecomposition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CF56EC-9C3D-BB59-4E66-C1E65C756B3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linearly independent</a:t>
                </a:r>
                <a:r>
                  <a:rPr lang="en-US" dirty="0"/>
                  <a:t> eigenvectors. Then, it can be represented in the form</a:t>
                </a:r>
              </a:p>
              <a:p>
                <a:endParaRPr lang="en-US" b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</a:p>
              <a:p>
                <a:endParaRPr lang="en-US" b="1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is the matrix whose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column is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eigenvector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BCF56EC-9C3D-BB59-4E66-C1E65C756B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9942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D0554-D168-6EAF-1F8A-3FABAA06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B191F-0EF0-2357-BE3A-C0FC38D83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if an eigenvalue is 0?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A0F700B-1DCA-B399-DF48-E54A8F90D4A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651250"/>
              </a:xfrm>
            </p:spPr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0. Then, 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𝐴𝑤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 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 …+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That is, the component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along the eigenvector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gets zeroed out! </a:t>
                </a:r>
              </a:p>
              <a:p>
                <a:endParaRPr lang="en-US" dirty="0"/>
              </a:p>
              <a:p>
                <a:r>
                  <a:rPr lang="en-US" dirty="0"/>
                  <a:t>Any output of the linear function defined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belongs to the lower-dimensional vector space spanned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A zero eigenvalue means that A cannot be full rank! </a:t>
                </a:r>
              </a:p>
              <a:p>
                <a:r>
                  <a:rPr lang="en-US" b="1" dirty="0"/>
                  <a:t>Column space is dimension at most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A0F700B-1DCA-B399-DF48-E54A8F90D4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65125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695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DD35-49F1-0D21-9263-AC946EF5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1945D27-3448-8357-743D-6D22BB580A3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 doesn’t have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 independent eigenvectors?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1945D27-3448-8357-743D-6D22BB580A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235" t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FD040BB-7E49-9D99-C4B4-6A9CB4E3A1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Some matrices have fewer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linearly independent eigenvectors. These matrices are called </a:t>
                </a:r>
                <a:r>
                  <a:rPr lang="en-US" i="1" dirty="0"/>
                  <a:t>defective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Geometrically, multiplication by a defective matrix creates a </a:t>
                </a:r>
                <a:r>
                  <a:rPr lang="en-US" i="1" dirty="0"/>
                  <a:t>shearing effect</a:t>
                </a:r>
              </a:p>
              <a:p>
                <a:endParaRPr lang="en-US" i="1" dirty="0"/>
              </a:p>
              <a:p>
                <a:r>
                  <a:rPr lang="en-US" dirty="0"/>
                  <a:t>In 2d, a shear is a transformation like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displacement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depends on distance from origin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Non-defective matrixes scale along each </a:t>
                </a:r>
              </a:p>
              <a:p>
                <a:pPr>
                  <a:spcBef>
                    <a:spcPts val="0"/>
                  </a:spcBef>
                </a:pPr>
                <a:r>
                  <a:rPr lang="en-US" dirty="0"/>
                  <a:t>eigenvector independently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FD040BB-7E49-9D99-C4B4-6A9CB4E3A1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4"/>
                <a:stretch>
                  <a:fillRect r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Mesh Shear 5/4">
            <a:extLst>
              <a:ext uri="{FF2B5EF4-FFF2-40B4-BE49-F238E27FC236}">
                <a16:creationId xmlns:a16="http://schemas.microsoft.com/office/drawing/2014/main" id="{5E685E80-7D3E-0528-272B-BF357EE4D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2" y="3230382"/>
            <a:ext cx="3058808" cy="139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361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r>
              <a:rPr lang="en-US" dirty="0"/>
              <a:t>Positive (Semi-)Definite Operators</a:t>
            </a:r>
            <a:endParaRPr dirty="0"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indent="-317492">
              <a:buChar char="●"/>
            </a:pPr>
            <a:r>
              <a:rPr lang="en-US" dirty="0"/>
              <a:t>An operator ℓ: X→ X is positive semi-definite  (PSD) if</a:t>
            </a:r>
            <a:endParaRPr dirty="0"/>
          </a:p>
          <a:p>
            <a:pPr indent="0" algn="ctr"/>
            <a:r>
              <a:rPr lang="en-US" dirty="0"/>
              <a:t>&lt;ℓ(</a:t>
            </a:r>
            <a:r>
              <a:rPr lang="en-US" b="1" dirty="0"/>
              <a:t>x</a:t>
            </a:r>
            <a:r>
              <a:rPr lang="en-US" dirty="0"/>
              <a:t>), </a:t>
            </a:r>
            <a:r>
              <a:rPr lang="en-US" b="1" dirty="0"/>
              <a:t>x</a:t>
            </a:r>
            <a:r>
              <a:rPr lang="en-US" dirty="0"/>
              <a:t>&gt; ≥ 0    ∀</a:t>
            </a:r>
            <a:r>
              <a:rPr lang="en-US" b="1" dirty="0" err="1"/>
              <a:t>x</a:t>
            </a:r>
            <a:r>
              <a:rPr lang="en-US" dirty="0" err="1"/>
              <a:t>∈X</a:t>
            </a:r>
            <a:r>
              <a:rPr lang="en-US" dirty="0"/>
              <a:t>  </a:t>
            </a:r>
            <a:endParaRPr dirty="0"/>
          </a:p>
          <a:p>
            <a:pPr indent="-317492">
              <a:buClr>
                <a:schemeClr val="dk1"/>
              </a:buClr>
              <a:buChar char="●"/>
            </a:pPr>
            <a:r>
              <a:rPr lang="en-US" dirty="0"/>
              <a:t>An matrix </a:t>
            </a:r>
            <a:r>
              <a:rPr lang="en-US" dirty="0" err="1"/>
              <a:t>L∈R</a:t>
            </a:r>
            <a:r>
              <a:rPr lang="en-US" baseline="30000" dirty="0" err="1"/>
              <a:t>n×n</a:t>
            </a:r>
            <a:r>
              <a:rPr lang="en-US" dirty="0"/>
              <a:t> is positive semi-definite  (PSD) if</a:t>
            </a:r>
            <a:endParaRPr dirty="0"/>
          </a:p>
          <a:p>
            <a:pPr indent="0" algn="ctr">
              <a:buClr>
                <a:schemeClr val="dk1"/>
              </a:buClr>
              <a:buSzPts val="1100"/>
            </a:pPr>
            <a:r>
              <a:rPr lang="en-US" b="1" dirty="0" err="1"/>
              <a:t>u</a:t>
            </a:r>
            <a:r>
              <a:rPr lang="en-US" baseline="30000" dirty="0" err="1"/>
              <a:t>T</a:t>
            </a:r>
            <a:r>
              <a:rPr lang="en-US" dirty="0" err="1"/>
              <a:t>L</a:t>
            </a:r>
            <a:r>
              <a:rPr lang="en-US" b="1" dirty="0" err="1"/>
              <a:t>u</a:t>
            </a:r>
            <a:r>
              <a:rPr lang="en-US" dirty="0"/>
              <a:t>&gt; ≥ 0    ∀</a:t>
            </a:r>
            <a:r>
              <a:rPr lang="en-US" b="1" dirty="0" err="1"/>
              <a:t>u</a:t>
            </a:r>
            <a:r>
              <a:rPr lang="en-US" dirty="0" err="1"/>
              <a:t>∈R</a:t>
            </a:r>
            <a:r>
              <a:rPr lang="en-US" baseline="30000" dirty="0" err="1"/>
              <a:t>n</a:t>
            </a:r>
            <a:r>
              <a:rPr lang="en-US" dirty="0"/>
              <a:t> </a:t>
            </a:r>
          </a:p>
          <a:p>
            <a:pPr indent="0" algn="ctr">
              <a:buClr>
                <a:schemeClr val="dk1"/>
              </a:buClr>
              <a:buSzPts val="1100"/>
            </a:pPr>
            <a:endParaRPr lang="en-US" dirty="0"/>
          </a:p>
          <a:p>
            <a:pPr indent="0">
              <a:buClr>
                <a:schemeClr val="dk1"/>
              </a:buClr>
              <a:buSzPts val="1100"/>
            </a:pPr>
            <a:r>
              <a:rPr lang="en-US" dirty="0"/>
              <a:t>Typically, restrict to </a:t>
            </a:r>
            <a:r>
              <a:rPr lang="en-US" i="1" dirty="0"/>
              <a:t>symmetric </a:t>
            </a:r>
            <a:r>
              <a:rPr lang="en-US" dirty="0"/>
              <a:t>PSD matrices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7A6C-360A-CBA8-8ABA-EAFE3BCF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(Semi-)Definite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61894-9438-85EC-CFF7-BAE1416A7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Equivalent characterization: all eigenvalues are non-negative (semi-definite) or strictly positive (definite)</a:t>
            </a:r>
          </a:p>
        </p:txBody>
      </p:sp>
    </p:spTree>
    <p:extLst>
      <p:ext uri="{BB962C8B-B14F-4D97-AF65-F5344CB8AC3E}">
        <p14:creationId xmlns:p14="http://schemas.microsoft.com/office/powerpoint/2010/main" val="3776773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FC80-E49A-ECCB-CEFB-6B0971DD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PSD matrices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0E75D-0381-89FB-9A93-7EB77C66E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713640"/>
          </a:xfrm>
        </p:spPr>
        <p:txBody>
          <a:bodyPr/>
          <a:lstStyle/>
          <a:p>
            <a:r>
              <a:rPr lang="en-US" dirty="0"/>
              <a:t>One interpretation: symmetric PSD matrices stretch/scale vectors but don’t “flip” them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Whiteboard: using eigenvectors as a basis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08E2F-AA21-36B9-98A1-AA3E0F173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62" y="1978819"/>
            <a:ext cx="6336506" cy="19645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98F6B-3BCD-11E5-CB05-F028B0BFC98D}"/>
              </a:ext>
            </a:extLst>
          </p:cNvPr>
          <p:cNvSpPr txBox="1"/>
          <p:nvPr/>
        </p:nvSpPr>
        <p:spPr>
          <a:xfrm>
            <a:off x="867792" y="3943350"/>
            <a:ext cx="579711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https://gregorygundersen.com/blog/2022/02/27/positive-definite/</a:t>
            </a:r>
          </a:p>
        </p:txBody>
      </p:sp>
    </p:spTree>
    <p:extLst>
      <p:ext uri="{BB962C8B-B14F-4D97-AF65-F5344CB8AC3E}">
        <p14:creationId xmlns:p14="http://schemas.microsoft.com/office/powerpoint/2010/main" val="3174871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57CC1-AFBC-2B37-ADAA-58484E3AA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PSD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EF1881A-2B07-7CBD-3F72-0AD683680FC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PSD matrices have a unique decomposition: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a “matrix square root”</a:t>
                </a:r>
              </a:p>
              <a:p>
                <a:endParaRPr lang="en-US" dirty="0"/>
              </a:p>
              <a:p>
                <a:r>
                  <a:rPr lang="en-US" dirty="0"/>
                  <a:t>And, for any matrix B,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positive semi-definite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EF1881A-2B07-7CBD-3F72-0AD683680F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655145"/>
      </p:ext>
    </p:extLst>
  </p:cSld>
  <p:clrMapOvr>
    <a:masterClrMapping/>
  </p:clrMapOvr>
</p:sld>
</file>

<file path=ppt/theme/theme1.xml><?xml version="1.0" encoding="utf-8"?>
<a:theme xmlns:a="http://schemas.openxmlformats.org/drawingml/2006/main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17019</TotalTime>
  <Words>1621</Words>
  <Application>Microsoft Macintosh PowerPoint</Application>
  <PresentationFormat>On-screen Show (16:9)</PresentationFormat>
  <Paragraphs>219</Paragraphs>
  <Slides>24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Cambria Math</vt:lpstr>
      <vt:lpstr>Helvetica Neue Light</vt:lpstr>
      <vt:lpstr>Open Sans Light</vt:lpstr>
      <vt:lpstr>Open Sans</vt:lpstr>
      <vt:lpstr>CMU PPT Theme</vt:lpstr>
      <vt:lpstr>PowerPoint Presentation</vt:lpstr>
      <vt:lpstr>Functions on Vector Spaces</vt:lpstr>
      <vt:lpstr>Coordinate Systems</vt:lpstr>
      <vt:lpstr>Coordinate Systems</vt:lpstr>
      <vt:lpstr>Coordinate Representation of Linear Functions</vt:lpstr>
      <vt:lpstr>Rank of a function or matrix</vt:lpstr>
      <vt:lpstr>Whiteboard: examples of rank</vt:lpstr>
      <vt:lpstr>Eigenvalues and eigenvectors</vt:lpstr>
      <vt:lpstr>Eigenvalues and eigenvectors</vt:lpstr>
      <vt:lpstr>Eigenvalues and eigenvectors</vt:lpstr>
      <vt:lpstr>Eigenvalues and eigenvectors</vt:lpstr>
      <vt:lpstr>Eigenvalues and eigenvectors</vt:lpstr>
      <vt:lpstr>Eigenvalues and eigenvectors</vt:lpstr>
      <vt:lpstr>Whiteboard examples</vt:lpstr>
      <vt:lpstr>Whiteboard examples</vt:lpstr>
      <vt:lpstr>Whiteboard examples</vt:lpstr>
      <vt:lpstr>What happens if an eigenvalue is 0?</vt:lpstr>
      <vt:lpstr>Eigendecomposition</vt:lpstr>
      <vt:lpstr>What happens if an eigenvalue is 0?</vt:lpstr>
      <vt:lpstr>What if A doesn’t have n independent eigenvectors?</vt:lpstr>
      <vt:lpstr>Positive (Semi-)Definite Operators</vt:lpstr>
      <vt:lpstr>Positive (Semi-)Definite Operators</vt:lpstr>
      <vt:lpstr>PSD matrices</vt:lpstr>
      <vt:lpstr>PSD matrices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Wilder, Bryan</dc:creator>
  <cp:lastModifiedBy>Bryan Wilder</cp:lastModifiedBy>
  <cp:revision>51</cp:revision>
  <dcterms:modified xsi:type="dcterms:W3CDTF">2026-09-02T17:23:02Z</dcterms:modified>
</cp:coreProperties>
</file>